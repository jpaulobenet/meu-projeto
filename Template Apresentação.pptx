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sldIdLst>
    <p:sldId id="256" r:id="rId6"/>
    <p:sldId id="257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2" r:id="rId22"/>
    <p:sldId id="293" r:id="rId23"/>
    <p:sldId id="294" r:id="rId24"/>
    <p:sldId id="295" r:id="rId25"/>
    <p:sldId id="297" r:id="rId26"/>
    <p:sldId id="298" r:id="rId27"/>
    <p:sldId id="296" r:id="rId28"/>
    <p:sldId id="299" r:id="rId29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40595A-576C-4961-8064-C6DA6FE25FD3}" v="6" dt="2024-03-28T16:41:33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86" d="100"/>
          <a:sy n="86" d="100"/>
        </p:scale>
        <p:origin x="4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presProps" Target="presProps.xml"/><Relationship Id="rId3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a Montezelli" userId="f684dfb1-a22e-47cb-8c34-70aa728d609c" providerId="ADAL" clId="{0540595A-576C-4961-8064-C6DA6FE25FD3}"/>
    <pc:docChg chg="addSld delSld modSld sldOrd addMainMaster modMainMaster">
      <pc:chgData name="Julia Montezelli" userId="f684dfb1-a22e-47cb-8c34-70aa728d609c" providerId="ADAL" clId="{0540595A-576C-4961-8064-C6DA6FE25FD3}" dt="2024-03-28T16:42:40.512" v="16" actId="47"/>
      <pc:docMkLst>
        <pc:docMk/>
      </pc:docMkLst>
      <pc:sldChg chg="modSp mod">
        <pc:chgData name="Julia Montezelli" userId="f684dfb1-a22e-47cb-8c34-70aa728d609c" providerId="ADAL" clId="{0540595A-576C-4961-8064-C6DA6FE25FD3}" dt="2024-03-28T16:41:55.589" v="12" actId="34135"/>
        <pc:sldMkLst>
          <pc:docMk/>
          <pc:sldMk cId="0" sldId="256"/>
        </pc:sldMkLst>
        <pc:picChg chg="mod">
          <ac:chgData name="Julia Montezelli" userId="f684dfb1-a22e-47cb-8c34-70aa728d609c" providerId="ADAL" clId="{0540595A-576C-4961-8064-C6DA6FE25FD3}" dt="2024-03-28T16:41:55.589" v="12" actId="34135"/>
          <ac:picMkLst>
            <pc:docMk/>
            <pc:sldMk cId="0" sldId="256"/>
            <ac:picMk id="2050" creationId="{69167FFF-053C-32A8-23DF-F9F613927C34}"/>
          </ac:picMkLst>
        </pc:picChg>
      </pc:sldChg>
      <pc:sldChg chg="delSp ord">
        <pc:chgData name="Julia Montezelli" userId="f684dfb1-a22e-47cb-8c34-70aa728d609c" providerId="ADAL" clId="{0540595A-576C-4961-8064-C6DA6FE25FD3}" dt="2024-03-28T16:41:31.466" v="9" actId="478"/>
        <pc:sldMkLst>
          <pc:docMk/>
          <pc:sldMk cId="0" sldId="257"/>
        </pc:sldMkLst>
        <pc:picChg chg="del">
          <ac:chgData name="Julia Montezelli" userId="f684dfb1-a22e-47cb-8c34-70aa728d609c" providerId="ADAL" clId="{0540595A-576C-4961-8064-C6DA6FE25FD3}" dt="2024-03-28T16:41:31.466" v="9" actId="478"/>
          <ac:picMkLst>
            <pc:docMk/>
            <pc:sldMk cId="0" sldId="257"/>
            <ac:picMk id="3074" creationId="{AD9CEC6A-1B25-2261-ACEF-39CAFD05A131}"/>
          </ac:picMkLst>
        </pc:picChg>
      </pc:sldChg>
      <pc:sldChg chg="new del">
        <pc:chgData name="Julia Montezelli" userId="f684dfb1-a22e-47cb-8c34-70aa728d609c" providerId="ADAL" clId="{0540595A-576C-4961-8064-C6DA6FE25FD3}" dt="2024-03-28T16:41:05.260" v="5" actId="47"/>
        <pc:sldMkLst>
          <pc:docMk/>
          <pc:sldMk cId="1325056275" sldId="258"/>
        </pc:sldMkLst>
      </pc:sldChg>
      <pc:sldChg chg="delSp add del">
        <pc:chgData name="Julia Montezelli" userId="f684dfb1-a22e-47cb-8c34-70aa728d609c" providerId="ADAL" clId="{0540595A-576C-4961-8064-C6DA6FE25FD3}" dt="2024-03-28T16:42:40.512" v="16" actId="47"/>
        <pc:sldMkLst>
          <pc:docMk/>
          <pc:sldMk cId="2878548634" sldId="258"/>
        </pc:sldMkLst>
        <pc:picChg chg="del">
          <ac:chgData name="Julia Montezelli" userId="f684dfb1-a22e-47cb-8c34-70aa728d609c" providerId="ADAL" clId="{0540595A-576C-4961-8064-C6DA6FE25FD3}" dt="2024-03-28T16:41:33.929" v="10" actId="478"/>
          <ac:picMkLst>
            <pc:docMk/>
            <pc:sldMk cId="2878548634" sldId="258"/>
            <ac:picMk id="3074" creationId="{AD9CEC6A-1B25-2261-ACEF-39CAFD05A131}"/>
          </ac:picMkLst>
        </pc:picChg>
      </pc:sldChg>
      <pc:sldChg chg="new del">
        <pc:chgData name="Julia Montezelli" userId="f684dfb1-a22e-47cb-8c34-70aa728d609c" providerId="ADAL" clId="{0540595A-576C-4961-8064-C6DA6FE25FD3}" dt="2024-03-28T16:42:39.533" v="15" actId="47"/>
        <pc:sldMkLst>
          <pc:docMk/>
          <pc:sldMk cId="1401432568" sldId="259"/>
        </pc:sldMkLst>
      </pc:sldChg>
      <pc:sldChg chg="new del">
        <pc:chgData name="Julia Montezelli" userId="f684dfb1-a22e-47cb-8c34-70aa728d609c" providerId="ADAL" clId="{0540595A-576C-4961-8064-C6DA6FE25FD3}" dt="2024-03-28T16:42:38.895" v="14" actId="47"/>
        <pc:sldMkLst>
          <pc:docMk/>
          <pc:sldMk cId="1315780620" sldId="260"/>
        </pc:sldMkLst>
      </pc:sldChg>
      <pc:sldMasterChg chg="modSldLayout">
        <pc:chgData name="Julia Montezelli" userId="f684dfb1-a22e-47cb-8c34-70aa728d609c" providerId="ADAL" clId="{0540595A-576C-4961-8064-C6DA6FE25FD3}" dt="2024-03-28T16:41:18.999" v="7"/>
        <pc:sldMasterMkLst>
          <pc:docMk/>
          <pc:sldMasterMk cId="0" sldId="2147483648"/>
        </pc:sldMasterMkLst>
        <pc:sldLayoutChg chg="addSp modSp">
          <pc:chgData name="Julia Montezelli" userId="f684dfb1-a22e-47cb-8c34-70aa728d609c" providerId="ADAL" clId="{0540595A-576C-4961-8064-C6DA6FE25FD3}" dt="2024-03-28T16:41:18.999" v="7"/>
          <pc:sldLayoutMkLst>
            <pc:docMk/>
            <pc:sldMasterMk cId="0" sldId="2147483648"/>
            <pc:sldLayoutMk cId="423984615" sldId="2147483650"/>
          </pc:sldLayoutMkLst>
          <pc:picChg chg="add mod">
            <ac:chgData name="Julia Montezelli" userId="f684dfb1-a22e-47cb-8c34-70aa728d609c" providerId="ADAL" clId="{0540595A-576C-4961-8064-C6DA6FE25FD3}" dt="2024-03-28T16:41:18.999" v="7"/>
            <ac:picMkLst>
              <pc:docMk/>
              <pc:sldMasterMk cId="0" sldId="2147483648"/>
              <pc:sldLayoutMk cId="423984615" sldId="2147483650"/>
              <ac:picMk id="7" creationId="{664C5D5B-F775-740C-162F-75F700AA3B6F}"/>
            </ac:picMkLst>
          </pc:picChg>
        </pc:sldLayoutChg>
        <pc:sldLayoutChg chg="addSp delSp modSp">
          <pc:chgData name="Julia Montezelli" userId="f684dfb1-a22e-47cb-8c34-70aa728d609c" providerId="ADAL" clId="{0540595A-576C-4961-8064-C6DA6FE25FD3}" dt="2024-03-28T16:41:16.049" v="6" actId="21"/>
          <pc:sldLayoutMkLst>
            <pc:docMk/>
            <pc:sldMasterMk cId="0" sldId="2147483648"/>
            <pc:sldLayoutMk cId="468984278" sldId="2147483651"/>
          </pc:sldLayoutMkLst>
          <pc:picChg chg="add del mod">
            <ac:chgData name="Julia Montezelli" userId="f684dfb1-a22e-47cb-8c34-70aa728d609c" providerId="ADAL" clId="{0540595A-576C-4961-8064-C6DA6FE25FD3}" dt="2024-03-28T16:41:16.049" v="6" actId="21"/>
            <ac:picMkLst>
              <pc:docMk/>
              <pc:sldMasterMk cId="0" sldId="2147483648"/>
              <pc:sldLayoutMk cId="468984278" sldId="2147483651"/>
              <ac:picMk id="7" creationId="{664C5D5B-F775-740C-162F-75F700AA3B6F}"/>
            </ac:picMkLst>
          </pc:picChg>
        </pc:sldLayoutChg>
      </pc:sldMasterChg>
      <pc:sldMasterChg chg="new mod addSldLayout">
        <pc:chgData name="Julia Montezelli" userId="f684dfb1-a22e-47cb-8c34-70aa728d609c" providerId="ADAL" clId="{0540595A-576C-4961-8064-C6DA6FE25FD3}" dt="2024-03-28T14:32:12.261" v="0" actId="6938"/>
        <pc:sldMasterMkLst>
          <pc:docMk/>
          <pc:sldMasterMk cId="2258777206" sldId="2147483660"/>
        </pc:sldMasterMkLst>
        <pc:sldLayoutChg chg="new replId">
          <pc:chgData name="Julia Montezelli" userId="f684dfb1-a22e-47cb-8c34-70aa728d609c" providerId="ADAL" clId="{0540595A-576C-4961-8064-C6DA6FE25FD3}" dt="2024-03-28T14:32:12.261" v="0" actId="6938"/>
          <pc:sldLayoutMkLst>
            <pc:docMk/>
            <pc:sldMasterMk cId="2258777206" sldId="2147483660"/>
            <pc:sldLayoutMk cId="313237468" sldId="2147483661"/>
          </pc:sldLayoutMkLst>
        </pc:sldLayoutChg>
        <pc:sldLayoutChg chg="new replId">
          <pc:chgData name="Julia Montezelli" userId="f684dfb1-a22e-47cb-8c34-70aa728d609c" providerId="ADAL" clId="{0540595A-576C-4961-8064-C6DA6FE25FD3}" dt="2024-03-28T14:32:12.261" v="0" actId="6938"/>
          <pc:sldLayoutMkLst>
            <pc:docMk/>
            <pc:sldMasterMk cId="2258777206" sldId="2147483660"/>
            <pc:sldLayoutMk cId="161459600" sldId="2147483662"/>
          </pc:sldLayoutMkLst>
        </pc:sldLayoutChg>
        <pc:sldLayoutChg chg="new replId">
          <pc:chgData name="Julia Montezelli" userId="f684dfb1-a22e-47cb-8c34-70aa728d609c" providerId="ADAL" clId="{0540595A-576C-4961-8064-C6DA6FE25FD3}" dt="2024-03-28T14:32:12.261" v="0" actId="6938"/>
          <pc:sldLayoutMkLst>
            <pc:docMk/>
            <pc:sldMasterMk cId="2258777206" sldId="2147483660"/>
            <pc:sldLayoutMk cId="611285825" sldId="2147483663"/>
          </pc:sldLayoutMkLst>
        </pc:sldLayoutChg>
        <pc:sldLayoutChg chg="new replId">
          <pc:chgData name="Julia Montezelli" userId="f684dfb1-a22e-47cb-8c34-70aa728d609c" providerId="ADAL" clId="{0540595A-576C-4961-8064-C6DA6FE25FD3}" dt="2024-03-28T14:32:12.261" v="0" actId="6938"/>
          <pc:sldLayoutMkLst>
            <pc:docMk/>
            <pc:sldMasterMk cId="2258777206" sldId="2147483660"/>
            <pc:sldLayoutMk cId="3658152024" sldId="2147483664"/>
          </pc:sldLayoutMkLst>
        </pc:sldLayoutChg>
        <pc:sldLayoutChg chg="new replId">
          <pc:chgData name="Julia Montezelli" userId="f684dfb1-a22e-47cb-8c34-70aa728d609c" providerId="ADAL" clId="{0540595A-576C-4961-8064-C6DA6FE25FD3}" dt="2024-03-28T14:32:12.261" v="0" actId="6938"/>
          <pc:sldLayoutMkLst>
            <pc:docMk/>
            <pc:sldMasterMk cId="2258777206" sldId="2147483660"/>
            <pc:sldLayoutMk cId="659889071" sldId="2147483665"/>
          </pc:sldLayoutMkLst>
        </pc:sldLayoutChg>
        <pc:sldLayoutChg chg="new replId">
          <pc:chgData name="Julia Montezelli" userId="f684dfb1-a22e-47cb-8c34-70aa728d609c" providerId="ADAL" clId="{0540595A-576C-4961-8064-C6DA6FE25FD3}" dt="2024-03-28T14:32:12.261" v="0" actId="6938"/>
          <pc:sldLayoutMkLst>
            <pc:docMk/>
            <pc:sldMasterMk cId="2258777206" sldId="2147483660"/>
            <pc:sldLayoutMk cId="3663317416" sldId="2147483666"/>
          </pc:sldLayoutMkLst>
        </pc:sldLayoutChg>
        <pc:sldLayoutChg chg="new replId">
          <pc:chgData name="Julia Montezelli" userId="f684dfb1-a22e-47cb-8c34-70aa728d609c" providerId="ADAL" clId="{0540595A-576C-4961-8064-C6DA6FE25FD3}" dt="2024-03-28T14:32:12.261" v="0" actId="6938"/>
          <pc:sldLayoutMkLst>
            <pc:docMk/>
            <pc:sldMasterMk cId="2258777206" sldId="2147483660"/>
            <pc:sldLayoutMk cId="3349444308" sldId="2147483667"/>
          </pc:sldLayoutMkLst>
        </pc:sldLayoutChg>
        <pc:sldLayoutChg chg="new replId">
          <pc:chgData name="Julia Montezelli" userId="f684dfb1-a22e-47cb-8c34-70aa728d609c" providerId="ADAL" clId="{0540595A-576C-4961-8064-C6DA6FE25FD3}" dt="2024-03-28T14:32:12.261" v="0" actId="6938"/>
          <pc:sldLayoutMkLst>
            <pc:docMk/>
            <pc:sldMasterMk cId="2258777206" sldId="2147483660"/>
            <pc:sldLayoutMk cId="112163654" sldId="2147483668"/>
          </pc:sldLayoutMkLst>
        </pc:sldLayoutChg>
        <pc:sldLayoutChg chg="new replId">
          <pc:chgData name="Julia Montezelli" userId="f684dfb1-a22e-47cb-8c34-70aa728d609c" providerId="ADAL" clId="{0540595A-576C-4961-8064-C6DA6FE25FD3}" dt="2024-03-28T14:32:12.261" v="0" actId="6938"/>
          <pc:sldLayoutMkLst>
            <pc:docMk/>
            <pc:sldMasterMk cId="2258777206" sldId="2147483660"/>
            <pc:sldLayoutMk cId="992403294" sldId="2147483669"/>
          </pc:sldLayoutMkLst>
        </pc:sldLayoutChg>
        <pc:sldLayoutChg chg="new replId">
          <pc:chgData name="Julia Montezelli" userId="f684dfb1-a22e-47cb-8c34-70aa728d609c" providerId="ADAL" clId="{0540595A-576C-4961-8064-C6DA6FE25FD3}" dt="2024-03-28T14:32:12.261" v="0" actId="6938"/>
          <pc:sldLayoutMkLst>
            <pc:docMk/>
            <pc:sldMasterMk cId="2258777206" sldId="2147483660"/>
            <pc:sldLayoutMk cId="3530002744" sldId="2147483670"/>
          </pc:sldLayoutMkLst>
        </pc:sldLayoutChg>
        <pc:sldLayoutChg chg="new replId">
          <pc:chgData name="Julia Montezelli" userId="f684dfb1-a22e-47cb-8c34-70aa728d609c" providerId="ADAL" clId="{0540595A-576C-4961-8064-C6DA6FE25FD3}" dt="2024-03-28T14:32:12.261" v="0" actId="6938"/>
          <pc:sldLayoutMkLst>
            <pc:docMk/>
            <pc:sldMasterMk cId="2258777206" sldId="2147483660"/>
            <pc:sldLayoutMk cId="1721163585" sldId="21474836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54188C-5123-C403-D056-93E26F433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41F348-3173-4368-9AE4-2C210B104C9A}" type="datetimeFigureOut">
              <a:rPr lang="pt-BR"/>
              <a:pPr>
                <a:defRPr/>
              </a:pPr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48FF5D-D431-88CE-6059-A5CCBA4BF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36DCA9-8EA9-A37A-51F1-8B71F4CBC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1F76F7-039B-430A-B7B5-577DDA3C4D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4697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4A8A04-19E9-70E3-19CA-3B3FF0220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53154-227E-4FB0-9144-264D99B09C4F}" type="datetimeFigureOut">
              <a:rPr lang="pt-BR"/>
              <a:pPr>
                <a:defRPr/>
              </a:pPr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2BC6B5-7E86-2B7B-9668-FB92CF95D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7AE915-4AA5-1329-97D0-038C90D4E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3A4533-5DBE-4FD4-A061-EAF54B40E89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pic>
        <p:nvPicPr>
          <p:cNvPr id="7" name="Imagem 4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664C5D5B-F775-740C-162F-75F700AA3B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4838" y="6224588"/>
            <a:ext cx="1182687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984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853632-0636-CD63-8241-3E8831E4E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3CC2B-74D8-4575-BC9B-C755C2896EC6}" type="datetimeFigureOut">
              <a:rPr lang="pt-BR"/>
              <a:pPr>
                <a:defRPr/>
              </a:pPr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A3DF60-2307-708F-4B50-3EC9B5C1A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AA974E-B8F0-D8E5-71C1-3AC1FBF68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64EEBC-97AD-4BB5-8C4C-916E37B736B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8984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3206DE05-FE47-C861-B320-19DCD0AD1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663D85-07B5-4A63-A5EE-7CB9EBD586D1}" type="datetimeFigureOut">
              <a:rPr lang="pt-BR"/>
              <a:pPr>
                <a:defRPr/>
              </a:pPr>
              <a:t>27/10/2025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0266CD70-C085-D99C-4F89-89C7448D3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E0FDED60-12D4-0D84-DC2C-025B2AF21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7F81F3-3B6B-4158-A2EA-435EE12202D3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8135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7BCF1C5A-A74A-F7CB-5428-776F6FA85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049EFE-17D5-480A-B754-87D854FBA7BD}" type="datetimeFigureOut">
              <a:rPr lang="pt-BR"/>
              <a:pPr>
                <a:defRPr/>
              </a:pPr>
              <a:t>27/10/2025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2ECEE962-D46B-58FA-EF60-EDFE1973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F32B39DE-A1FE-7775-DE1E-ACB086D88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139C0E-B88B-4E19-94FC-2325D76F751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4631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5137CD16-6574-6E1F-ABE4-0A545D365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393E6F-C6AF-442E-89E3-F85E24AFDA58}" type="datetimeFigureOut">
              <a:rPr lang="pt-BR"/>
              <a:pPr>
                <a:defRPr/>
              </a:pPr>
              <a:t>27/10/2025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35BCBFEA-C5E5-6A42-1AAA-FAF2685FD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3987B575-2E62-724D-F599-EAD1951FE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3265F5-9918-43E5-A4FC-F732428B84D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1812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57D1C6B0-5D54-197F-AC9B-65D8851F8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AD17F-5C37-430A-8177-1918C74E06A4}" type="datetimeFigureOut">
              <a:rPr lang="pt-BR"/>
              <a:pPr>
                <a:defRPr/>
              </a:pPr>
              <a:t>27/10/2025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0D6031AF-FE42-9BB0-2711-99D8A67E0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8E6DDA5D-8BD5-1650-B632-A61D9B1D3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5EDAD0-5299-4C4E-859B-63E5266360B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1707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2A53A17D-9EEC-1376-506B-D8D43425E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897BD8-28FD-44E8-9D3A-DD444A1270E8}" type="datetimeFigureOut">
              <a:rPr lang="pt-BR"/>
              <a:pPr>
                <a:defRPr/>
              </a:pPr>
              <a:t>27/10/2025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843F775C-E2F8-910D-745B-5D354CFD6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33860552-DD75-02DB-B500-B86A9D63C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DB9B6-62D8-4BB7-BB1C-7D883C26475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97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E581D842-D706-7D01-7B93-471F1CCC9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F3CEA6-D88E-4E80-9FC8-3DA155323873}" type="datetimeFigureOut">
              <a:rPr lang="pt-BR"/>
              <a:pPr>
                <a:defRPr/>
              </a:pPr>
              <a:t>27/10/2025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B16DC51D-DF0D-58F1-CFE1-BE3016910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C407A454-8E16-BB9C-37DE-A2D421A11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38A33F-6685-41BA-80F1-2B0923865B5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97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D59DDA-6441-1B7C-B62C-BF62B03B0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D6C737-1E34-435B-8742-DFCAF78F49C8}" type="datetimeFigureOut">
              <a:rPr lang="pt-BR"/>
              <a:pPr>
                <a:defRPr/>
              </a:pPr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B4E6C9-D9FC-E0DC-02F2-F642D50DA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7BB54B-F4A2-4AA3-61E6-2A9526B0F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16F8B4-0831-4CF4-85C7-B8BB0D88BD5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011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5B2444-C6E0-2A95-B28D-C7A5E66A5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E7F4D5-5FF4-4AE9-9E53-FBC51E1889ED}" type="datetimeFigureOut">
              <a:rPr lang="pt-BR"/>
              <a:pPr>
                <a:defRPr/>
              </a:pPr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E08FAD-EDC2-8C7B-CA3B-A64C9007E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F2CA30-119A-4372-93F3-D47A1D77A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20E77F-8C06-477A-82CE-75C5F46B7A4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08195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5EF62E-0F2D-47C5-6D89-F3CCC797A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4013DC-8F6A-2CEA-B95A-3A12F4C28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668CB8-DA21-60CA-576A-40CEC5DCC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6A8E9C-7002-046F-C62C-7F7B5DF42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BD49D0-7B3E-366D-C1B1-645D15AAD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2374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714900-2B20-CF61-3EF4-0A478244D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001EAC-6554-6610-2375-BA980B384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B100A3-B288-7584-7AB3-3E2C89CB7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67905D-FE02-43D8-7F1A-B52231D5F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9585B9-64F8-F534-75D1-DB0DF76E8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4596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738F6-0B84-F482-8581-48DA78122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1F32F5C-3A9A-B986-48CB-28B6608B5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0B67F0-1844-E07C-FBBF-6ED7E9FEA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C171B8-D512-7700-A187-95FFAA3B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7D3D2D-4DBF-3F52-754A-0DE045A29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12858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06D6A7-8208-8CB5-1985-A690E3FDE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A60FB5-FBFF-38BB-9508-C46FDB26E5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52AD750-9710-6744-3DFA-8094CA9B77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8C0DD2-EA0A-EC6D-D5F7-AADE939C6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9482AC6-F053-EEDD-5637-B347FE01A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FF95F68-3D6D-9BA7-9C25-7DA1717F6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81520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E04330-174D-29E5-8654-46A07AF89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E00D73-2C2D-23AB-0134-CF309677B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D249F24-FCDC-6B9A-A6D7-D05223708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B6A79D9-C4D3-5F6D-6C3A-8A7DFBE06D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E70E644-EED5-872A-3F3E-8DA878743A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A434F67-88BF-E7AB-8146-F015A2E42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2316F72-0B0C-741B-4791-1A08DCC05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CD686B2-8C95-B1A7-8647-8AE6D6273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98890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ACA114-7BEF-8889-4AAD-A4650F50F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84703BE-0278-68C8-55F1-5E12C6A85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F362A38-B33A-3B43-1FC6-6E9131030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383375D-BA6C-7189-935B-2C4CDA4C2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33174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BB3D465-661A-008F-6997-8D0BE07BE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D01AFC2-EE9C-0E49-2FB7-F1B471B66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512F564-8150-6C5C-3AD4-CA179A8EE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94443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12C474-3B0B-B417-EC81-75DE75A54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1C390E-B237-7170-85F8-A35CF9644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BF85BDB-CC8C-5D62-5852-0D91B7C5C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01FF1C5-64A0-DAB8-6184-8BE64977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DABDF35-C8D7-F2C0-CBF3-D0DCEC1DD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C293867-BF6F-F150-C690-A101E356D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1636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74E243-EE90-F093-06FD-D01879DC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5DA1786-0D87-7592-C312-AAA4055FF9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53ED9EA-D49E-8E58-3C63-9B8108BE58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067272-070E-82A2-443A-948B5B5AD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01E17D2-90C1-300D-83AA-A1DA1DF93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4B14FE-048C-DF7C-85F1-4F55DAF38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24032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7E6FBF-271B-6A71-80D3-84715724A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D386F14-8F4A-F22F-9FFC-1164C0CD9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95AC9A-FDC8-0DEE-1058-0933DBB4B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8118C6-633D-F2FC-6522-4511BBD82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7A59AB-5B8D-B9F1-CA52-861E99D9C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00027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1916963-F002-4CC0-000F-721A3B3C7D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1565939-2249-B159-ED7A-6B667FC19F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0FB969-A189-C5D2-6D3C-3B2D596AF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16F883-BB93-AA0F-E2B5-D8DB0A17F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7187D8-30AE-608E-E44C-43BD8F606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163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54FEAEE6-6DC3-82AD-923E-6E89737ACE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2EB787A8-6C53-B312-69D6-15B7C63FD6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AB38F5-179C-EC89-D177-EDF645BBBA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DEA24CB-D011-40A9-9B00-17F8B95BC099}" type="datetimeFigureOut">
              <a:rPr lang="pt-BR"/>
              <a:pPr>
                <a:defRPr/>
              </a:pPr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6B3C93-8BD6-F4DF-2EF9-9F9B19864D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79F760-62C7-A95B-8BCB-9125DE6467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1B5D4AF-77A0-46F4-A4DA-44F26C2F6F0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0CD8993-8EFA-C921-CE50-C91B93C59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FDAFABD-CCB9-B391-F672-3C505C4ED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6F6392-A335-49EB-9AF3-43BB6706E9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724664-DFBB-4E94-A029-90BF542E375A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43C747-C098-229A-2F92-02372364E8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01009F-9821-73C3-C06E-B6C465341E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8777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m 4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69167FFF-053C-32A8-23DF-F9F613927C3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0" y="1187450"/>
            <a:ext cx="2692400" cy="448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ítulo 1">
            <a:extLst>
              <a:ext uri="{FF2B5EF4-FFF2-40B4-BE49-F238E27FC236}">
                <a16:creationId xmlns:a16="http://schemas.microsoft.com/office/drawing/2014/main" id="{5E191FB6-9076-7761-D0ED-D4DB65D1453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114800" y="1550988"/>
            <a:ext cx="7654925" cy="2003425"/>
          </a:xfrm>
        </p:spPr>
        <p:txBody>
          <a:bodyPr/>
          <a:lstStyle/>
          <a:p>
            <a:r>
              <a:rPr lang="pt-BR" altLang="pt-BR" sz="4800" dirty="0">
                <a:solidFill>
                  <a:schemeClr val="bg2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Modelagem e previsão do IBOVESPA com variáveis macroeconômicas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E2D5B23A-1E89-B367-5D15-A0EBF76473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0750" y="3910013"/>
            <a:ext cx="5356225" cy="741362"/>
          </a:xfrm>
        </p:spPr>
        <p:txBody>
          <a:bodyPr rtlCol="0">
            <a:normAutofit fontScale="92500" lnSpcReduction="20000"/>
          </a:bodyPr>
          <a:lstStyle/>
          <a:p>
            <a:pPr algn="l" fontAlgn="auto">
              <a:spcAft>
                <a:spcPts val="0"/>
              </a:spcAft>
              <a:defRPr/>
            </a:pPr>
            <a:r>
              <a:rPr lang="pt-BR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João Paulo Fumes Beneton</a:t>
            </a:r>
          </a:p>
          <a:p>
            <a:pPr algn="l" fontAlgn="auto">
              <a:spcAft>
                <a:spcPts val="0"/>
              </a:spcAft>
              <a:defRPr/>
            </a:pPr>
            <a:r>
              <a:rPr lang="pt-BR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Daniel Alvarez Firmino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DBAD735-0962-FD61-9E9F-E49E4E01A3DB}"/>
              </a:ext>
            </a:extLst>
          </p:cNvPr>
          <p:cNvSpPr txBox="1"/>
          <p:nvPr/>
        </p:nvSpPr>
        <p:spPr>
          <a:xfrm>
            <a:off x="68766" y="976150"/>
            <a:ext cx="1205446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Por que este estudo?</a:t>
            </a:r>
          </a:p>
          <a:p>
            <a:pPr algn="just"/>
            <a:b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</a:b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Prever movimentos do mercado acionário é um objetivo antigo (e um desafio atual). Por muito tempo acreditou-se que tais previsões seriam relativamente simples, sobretudo a partir de características da própria ação; a evidência mostra o contrário: relações mudam, sinais desaparecem e o contexto importa. Esta apresentação aborda esse debate a partir do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Ibovespa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.</a:t>
            </a:r>
          </a:p>
          <a:p>
            <a:endParaRPr lang="pt-BR" sz="16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Por que isso importa?</a:t>
            </a:r>
          </a:p>
          <a:p>
            <a:pPr algn="just"/>
            <a:b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</a:b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O Ibovespa sintetiza as ações mais líquidas da B3 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e reage a choques internos e externos. Se anteciparmos um passo à frente, mesmo que modestamente,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ganhamos em decisão, planejamento e gestão de risco.</a:t>
            </a:r>
          </a:p>
          <a:p>
            <a:endParaRPr lang="pt-BR" sz="16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O debate na literatura</a:t>
            </a:r>
          </a:p>
          <a:p>
            <a:pPr algn="just"/>
            <a:b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</a:b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Os resultados são heterogêneos.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Em alguns recortes, variáveis macroeconômicas parecem úteis; em outros, os sinais são instáveis ou fracos. 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Essa divergência justifica uma avaliação criteriosa e transparente.</a:t>
            </a:r>
          </a:p>
          <a:p>
            <a:endParaRPr lang="pt-BR" sz="16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Pergunta da pesquisa</a:t>
            </a:r>
          </a:p>
          <a:p>
            <a:pPr algn="just"/>
            <a:b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</a:br>
            <a:r>
              <a:rPr lang="pt-BR" sz="1600" u="sng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Em horizonte mensal, as variáveis macroeconômicas — Selic, IPCA e USD/BRL — acrescentam, de forma estável e fora da amostra, poder preditivo ao Ibovespa, superando um baseline parcimonioso?</a:t>
            </a:r>
          </a:p>
          <a:p>
            <a:endParaRPr lang="pt-BR" sz="16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* horizonte mensal; foco em ganho incremental vs. um benchmark parcimonioso.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9C378A8B-0CD0-B144-D81B-9A30797D4E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2653990" cy="1077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pt-BR" altLang="pt-BR" sz="28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Introdução</a:t>
            </a:r>
            <a:endParaRPr lang="pt-BR" altLang="pt-BR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0321A-85E7-188B-0E7A-17896E7B8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EB02C7E-BEDC-61FC-FD2E-A69039A84776}"/>
              </a:ext>
            </a:extLst>
          </p:cNvPr>
          <p:cNvSpPr txBox="1"/>
          <p:nvPr/>
        </p:nvSpPr>
        <p:spPr>
          <a:xfrm>
            <a:off x="68766" y="976150"/>
            <a:ext cx="6655419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O recorte e o alvo</a:t>
            </a:r>
          </a:p>
          <a:p>
            <a:pPr algn="just"/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Trabalhou-se com dados mensais de 2000–2025, cobrindo diferentes regimes e choques.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O alvo preditivo é a variação mensal do Ibovespa (ΔIBOVESPA) 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calculada a partir do fechamento do último dia útil — uma proxy direta do comportamento de curto prazo.</a:t>
            </a:r>
          </a:p>
          <a:p>
            <a:pPr algn="just"/>
            <a:endParaRPr lang="pt-BR" sz="16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algn="just"/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Os preditores macroeconômicos</a:t>
            </a:r>
          </a:p>
          <a:p>
            <a:pPr algn="just"/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Selecionou-se três variáveis recorrentes na literatura: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Selic, IPCA (m/m) e USD/BRL – PTAX (fim de mês). 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Elas capturam, respectivamente, o custo do capital, a dinâmica de preços e o canal cambial.</a:t>
            </a:r>
          </a:p>
          <a:p>
            <a:pPr algn="just"/>
            <a:endParaRPr lang="pt-BR" sz="16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algn="just"/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Fontes e padronização</a:t>
            </a:r>
          </a:p>
          <a:p>
            <a:pPr algn="just"/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Índice via base pública (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Yahoo Finance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) e as variáveis macroeconômicas no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SGS/BCB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. </a:t>
            </a:r>
            <a:r>
              <a:rPr lang="pt-BR" sz="1600" u="sng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Preditores padronizados (z-score); defasagens definidas empiricamente na validação interna, sem vazamento de informação.* </a:t>
            </a:r>
          </a:p>
          <a:p>
            <a:pPr algn="just"/>
            <a:endParaRPr lang="pt-BR" sz="16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algn="just"/>
            <a:r>
              <a:rPr lang="pt-BR" sz="12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*Significa garantir que o modelo não use dados futuros para prever o comportamento passado ou presente, preservando a integridade da previsão em condições reais de mercado.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374331E5-2A94-E2E1-BCBD-E3B60ED1D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1077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pt-BR" sz="24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Metodologia | Variáveis (1/2) — Alvo e Preditores</a:t>
            </a:r>
            <a:endParaRPr lang="pt-BR" altLang="pt-BR" sz="2400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C53CBE4-60A4-1E2A-1377-10C0A4D0B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7129" y="2299856"/>
            <a:ext cx="6436224" cy="22582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4599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79CAA-A737-38DE-2A09-8A3DAD776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A9C2894-2540-1273-30EC-7BB0D10505BF}"/>
              </a:ext>
            </a:extLst>
          </p:cNvPr>
          <p:cNvSpPr txBox="1"/>
          <p:nvPr/>
        </p:nvSpPr>
        <p:spPr>
          <a:xfrm>
            <a:off x="-1" y="842335"/>
            <a:ext cx="1175338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Evolução histórica</a:t>
            </a:r>
          </a:p>
          <a:p>
            <a:pPr algn="just"/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O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Ibovespa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 segue uma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tendência de longo prazo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, mas apresenta picos de volatilidade durante crises. A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Selic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 alterna entre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ciclos de aperto e afrouxamento 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monetário, enquanto o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IPCA tem picos de inflação 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em choques de preços. O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USD/BRL 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oscila entre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apreciação e depreciação do real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. </a:t>
            </a:r>
            <a:r>
              <a:rPr lang="pt-BR" sz="1600" u="sng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Esses comportamentos indicam </a:t>
            </a:r>
            <a:r>
              <a:rPr lang="pt-BR" sz="2000" b="1" u="sng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não-estacionariedade</a:t>
            </a:r>
            <a:r>
              <a:rPr lang="pt-BR" sz="1600" u="sng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 e quebras de regime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, ou seja, mudanças estruturais que alteram o padrão das variáveis ao longo do tempo.</a:t>
            </a:r>
          </a:p>
          <a:p>
            <a:pPr algn="just"/>
            <a:b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</a:br>
            <a:r>
              <a:rPr lang="pt-BR" sz="11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* Não se observa sazonalidade mensal robusta. Em nível, Ibovespa e USD/BRL concentram maior amplitude/volatilidade, enquanto Selic e IPCA são relativamente mais estáveis.</a:t>
            </a:r>
          </a:p>
          <a:p>
            <a:endParaRPr lang="pt-BR" sz="12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CF29C1D3-C75F-A738-1F84-413EAB0B1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1077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pt-BR" sz="24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Metodologia | Variáveis (2/2) — Retrato das Séries</a:t>
            </a:r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00B6375F-1BEE-E612-36B3-2B323AA73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883" y="3055434"/>
            <a:ext cx="9722046" cy="3668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9949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C91AB-E75B-C955-500E-90252B77C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FF0BB8D-662A-1A29-ECBF-3B0DD487D07F}"/>
              </a:ext>
            </a:extLst>
          </p:cNvPr>
          <p:cNvSpPr txBox="1"/>
          <p:nvPr/>
        </p:nvSpPr>
        <p:spPr>
          <a:xfrm>
            <a:off x="68766" y="976150"/>
            <a:ext cx="12024173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Por que testar?</a:t>
            </a:r>
          </a:p>
          <a:p>
            <a:pPr algn="just"/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Ibovespa, Selic, USD/BRL e IPCA 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apresentam comportamentos distintos, com picos de volatilidade (para o Ibovespa, Selic e USD/BRL) e estabilidade (para o IPCA). </a:t>
            </a:r>
          </a:p>
          <a:p>
            <a:pPr algn="just"/>
            <a:endParaRPr lang="pt-BR" sz="16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algn="just"/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O que será verificado?</a:t>
            </a:r>
          </a:p>
          <a:p>
            <a:pPr algn="just"/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Confirma-se a estacionariedade das variáveis com o </a:t>
            </a:r>
            <a:r>
              <a:rPr lang="pt-BR" sz="20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teste ADF e ACF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. Quando necessário, aplica-se a </a:t>
            </a:r>
            <a:r>
              <a:rPr lang="pt-BR" sz="20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diferenciação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 para estabilizar as séries e reduzir a autocorrelação de longo prazo.</a:t>
            </a:r>
          </a:p>
          <a:p>
            <a:pPr algn="just"/>
            <a:endParaRPr lang="pt-BR" sz="16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algn="just"/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Como tratamos dados</a:t>
            </a:r>
          </a:p>
          <a:p>
            <a:pPr algn="just"/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As variáveis exógenas entram defasadas.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 padronização (z-score) será feita apenas no treino a cada passo do rolling 1-step, evitando vazamento de informação.</a:t>
            </a:r>
          </a:p>
          <a:p>
            <a:pPr algn="just"/>
            <a:endParaRPr lang="pt-BR" sz="1600" b="1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algn="just"/>
            <a:endParaRPr lang="pt-BR" b="1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algn="just"/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*</a:t>
            </a:r>
            <a:r>
              <a:rPr lang="pt-BR" sz="20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Rolling 1-step </a:t>
            </a:r>
            <a:endParaRPr lang="pt-BR" sz="1400" b="1" dirty="0"/>
          </a:p>
          <a:p>
            <a:pPr algn="just"/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Realiza-se a previsão um mês por vez, sempre usando apenas os dados que existiam até aquele momento.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 Funcionamento: treina-se o modelo com o histórico até t e realiza a previsão para t+1. Quando t+1 acontece de verdade, inclui-se esse novo dado no histórico e repete-se o ciclo para prever t+2. Esse “rolar” da janela ao longo do tempo simula o uso real — sem olhar o futuro — e mostra como o modelo se comportaria na prática.</a:t>
            </a:r>
          </a:p>
          <a:p>
            <a:pPr algn="just"/>
            <a:endParaRPr lang="pt-BR" sz="1600" b="1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A6A3FE94-17B7-EA49-D3F2-3E06D1BF9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1077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pt-BR" sz="24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Metodologia| Estacionariedade (1/4) — Motivação e abordagem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754BB6C-0EF4-A717-0A40-39D2E4D3ADE7}"/>
              </a:ext>
            </a:extLst>
          </p:cNvPr>
          <p:cNvSpPr txBox="1"/>
          <p:nvPr/>
        </p:nvSpPr>
        <p:spPr>
          <a:xfrm>
            <a:off x="-30295" y="5602680"/>
            <a:ext cx="104388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pt-BR" dirty="0"/>
            </a:br>
            <a:r>
              <a:rPr lang="pt-BR" sz="1200" dirty="0">
                <a:latin typeface="Poppins" panose="00000500000000000000" pitchFamily="2" charset="0"/>
                <a:cs typeface="Poppins" panose="00000500000000000000" pitchFamily="2" charset="0"/>
              </a:rPr>
              <a:t>* [ </a:t>
            </a:r>
            <a:r>
              <a:rPr lang="pt-BR" sz="1200" dirty="0" err="1">
                <a:latin typeface="Poppins" panose="00000500000000000000" pitchFamily="2" charset="0"/>
                <a:cs typeface="Poppins" panose="00000500000000000000" pitchFamily="2" charset="0"/>
              </a:rPr>
              <a:t>jan</a:t>
            </a:r>
            <a:r>
              <a:rPr lang="pt-BR" sz="1200" dirty="0">
                <a:latin typeface="Poppins" panose="00000500000000000000" pitchFamily="2" charset="0"/>
                <a:cs typeface="Poppins" panose="00000500000000000000" pitchFamily="2" charset="0"/>
              </a:rPr>
              <a:t> … dez ] → prevê </a:t>
            </a:r>
            <a:r>
              <a:rPr lang="pt-BR" sz="1200" b="1" dirty="0" err="1">
                <a:latin typeface="Poppins" panose="00000500000000000000" pitchFamily="2" charset="0"/>
                <a:cs typeface="Poppins" panose="00000500000000000000" pitchFamily="2" charset="0"/>
              </a:rPr>
              <a:t>jan</a:t>
            </a:r>
            <a:r>
              <a:rPr lang="pt-BR" sz="1200" dirty="0">
                <a:latin typeface="Poppins" panose="00000500000000000000" pitchFamily="2" charset="0"/>
                <a:cs typeface="Poppins" panose="00000500000000000000" pitchFamily="2" charset="0"/>
              </a:rPr>
              <a:t>; depois [ </a:t>
            </a:r>
            <a:r>
              <a:rPr lang="pt-BR" sz="1200" dirty="0" err="1">
                <a:latin typeface="Poppins" panose="00000500000000000000" pitchFamily="2" charset="0"/>
                <a:cs typeface="Poppins" panose="00000500000000000000" pitchFamily="2" charset="0"/>
              </a:rPr>
              <a:t>jan</a:t>
            </a:r>
            <a:r>
              <a:rPr lang="pt-BR" sz="1200" dirty="0">
                <a:latin typeface="Poppins" panose="00000500000000000000" pitchFamily="2" charset="0"/>
                <a:cs typeface="Poppins" panose="00000500000000000000" pitchFamily="2" charset="0"/>
              </a:rPr>
              <a:t> … </a:t>
            </a:r>
            <a:r>
              <a:rPr lang="pt-BR" sz="1200" dirty="0" err="1">
                <a:latin typeface="Poppins" panose="00000500000000000000" pitchFamily="2" charset="0"/>
                <a:cs typeface="Poppins" panose="00000500000000000000" pitchFamily="2" charset="0"/>
              </a:rPr>
              <a:t>jan</a:t>
            </a:r>
            <a:r>
              <a:rPr lang="pt-BR" sz="1200" dirty="0">
                <a:latin typeface="Poppins" panose="00000500000000000000" pitchFamily="2" charset="0"/>
                <a:cs typeface="Poppins" panose="00000500000000000000" pitchFamily="2" charset="0"/>
              </a:rPr>
              <a:t> ] → prevê </a:t>
            </a:r>
            <a:r>
              <a:rPr lang="pt-BR" sz="1200" b="1" dirty="0" err="1">
                <a:latin typeface="Poppins" panose="00000500000000000000" pitchFamily="2" charset="0"/>
                <a:cs typeface="Poppins" panose="00000500000000000000" pitchFamily="2" charset="0"/>
              </a:rPr>
              <a:t>fev</a:t>
            </a:r>
            <a:r>
              <a:rPr lang="pt-BR" sz="1200" dirty="0">
                <a:latin typeface="Poppins" panose="00000500000000000000" pitchFamily="2" charset="0"/>
                <a:cs typeface="Poppins" panose="00000500000000000000" pitchFamily="2" charset="0"/>
              </a:rPr>
              <a:t>; depois [ </a:t>
            </a:r>
            <a:r>
              <a:rPr lang="pt-BR" sz="1200" dirty="0" err="1">
                <a:latin typeface="Poppins" panose="00000500000000000000" pitchFamily="2" charset="0"/>
                <a:cs typeface="Poppins" panose="00000500000000000000" pitchFamily="2" charset="0"/>
              </a:rPr>
              <a:t>jan</a:t>
            </a:r>
            <a:r>
              <a:rPr lang="pt-BR" sz="1200" dirty="0">
                <a:latin typeface="Poppins" panose="00000500000000000000" pitchFamily="2" charset="0"/>
                <a:cs typeface="Poppins" panose="00000500000000000000" pitchFamily="2" charset="0"/>
              </a:rPr>
              <a:t> … </a:t>
            </a:r>
            <a:r>
              <a:rPr lang="pt-BR" sz="1200" dirty="0" err="1">
                <a:latin typeface="Poppins" panose="00000500000000000000" pitchFamily="2" charset="0"/>
                <a:cs typeface="Poppins" panose="00000500000000000000" pitchFamily="2" charset="0"/>
              </a:rPr>
              <a:t>fev</a:t>
            </a:r>
            <a:r>
              <a:rPr lang="pt-BR" sz="1200" dirty="0">
                <a:latin typeface="Poppins" panose="00000500000000000000" pitchFamily="2" charset="0"/>
                <a:cs typeface="Poppins" panose="00000500000000000000" pitchFamily="2" charset="0"/>
              </a:rPr>
              <a:t> ] → prevê </a:t>
            </a:r>
            <a:r>
              <a:rPr lang="pt-BR" sz="1200" b="1" dirty="0">
                <a:latin typeface="Poppins" panose="00000500000000000000" pitchFamily="2" charset="0"/>
                <a:cs typeface="Poppins" panose="00000500000000000000" pitchFamily="2" charset="0"/>
              </a:rPr>
              <a:t>mar</a:t>
            </a:r>
            <a:r>
              <a:rPr lang="pt-BR" sz="1200" dirty="0">
                <a:latin typeface="Poppins" panose="00000500000000000000" pitchFamily="2" charset="0"/>
                <a:cs typeface="Poppins" panose="00000500000000000000" pitchFamily="2" charset="0"/>
              </a:rPr>
              <a:t>; e assim por diante.</a:t>
            </a:r>
            <a:endParaRPr lang="pt-BR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5793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2135B-E90A-FE91-A21E-66A61FA1E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0037115-BB06-725A-89A2-83CF9A25B1B6}"/>
              </a:ext>
            </a:extLst>
          </p:cNvPr>
          <p:cNvSpPr txBox="1"/>
          <p:nvPr/>
        </p:nvSpPr>
        <p:spPr>
          <a:xfrm>
            <a:off x="79917" y="720811"/>
            <a:ext cx="665541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O que os testes mostram</a:t>
            </a:r>
          </a:p>
          <a:p>
            <a:pPr algn="just"/>
            <a:r>
              <a:rPr lang="pt-BR" sz="1600" u="sng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No teste ADF, verifica-se se a série tem raiz unitária. Se não rejeita-se a hipótese nula, a série é não-estacionária.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 IPCA (m/m) rejeitou a hipótese de raiz unitária, indicando estacionariedade.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Já Ibovespa, Selic e USD/BRL não rejeitaram, sugerindo não-estacionariedade.</a:t>
            </a:r>
          </a:p>
          <a:p>
            <a:endParaRPr lang="pt-BR" sz="1200" dirty="0"/>
          </a:p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Leitura complementar (ACF)</a:t>
            </a:r>
          </a:p>
          <a:p>
            <a:pPr algn="just"/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 ACF mede a correlação das observações com suas defasagens. Para não-estacionárias, a autocorrelação decai lentamente, como observado em Ibovespa, Selic e USD/BRL. </a:t>
            </a:r>
            <a:endParaRPr lang="pt-BR" sz="12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925F028D-59CD-F336-DA52-BAA113A2A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1077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pt-BR" sz="24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Metodologia | Variáveis (2/4) — Evidência em nível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92124C4-7CB8-0041-7896-696758621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3239" y="847404"/>
            <a:ext cx="4589717" cy="5348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74BCE3F-8976-F98B-E609-AF864A425E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71" y="4007353"/>
            <a:ext cx="5756910" cy="1876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0300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1155B-B463-ED64-F211-F5385AA79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A1355D5-1C66-B863-ECCB-C9609E6B34F8}"/>
              </a:ext>
            </a:extLst>
          </p:cNvPr>
          <p:cNvSpPr txBox="1"/>
          <p:nvPr/>
        </p:nvSpPr>
        <p:spPr>
          <a:xfrm>
            <a:off x="236035" y="1077455"/>
            <a:ext cx="570756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Transformação adotada</a:t>
            </a:r>
          </a:p>
          <a:p>
            <a:pPr algn="just"/>
            <a:r>
              <a:rPr lang="pt-BR" sz="1600" u="sng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Aplica-se primeira diferença (variação mês a mês) a Ibovespa, Selic e USD/BRL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. Após a transformação, o ADF rejeita raiz unitária para as séries diferenciadas (p-valores &lt; 5%), e as ACFs passam a decair rapidamente.</a:t>
            </a:r>
          </a:p>
          <a:p>
            <a:pPr algn="just"/>
            <a:endParaRPr lang="pt-BR" sz="16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Sazonalidade</a:t>
            </a:r>
          </a:p>
          <a:p>
            <a:pPr algn="just"/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Não se observam picos sazonais relevantes (lags 12 e 24). Mantemos especificações não sazonais; checagens por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Ljung–Box (Q=12)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 não indicam autocorrelação sazonal remanescente nos resíduos.</a:t>
            </a:r>
          </a:p>
          <a:p>
            <a:pPr algn="just"/>
            <a:endParaRPr lang="pt-BR" sz="12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56C8A6C4-7691-1BC3-DF0F-D9E20146D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1077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pt-BR" sz="24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Metodologia | Variáveis (3/4) — Diferenciação e checagens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31CA4DB-9D07-F5B8-E715-8CDAFB6DDA0D}"/>
              </a:ext>
            </a:extLst>
          </p:cNvPr>
          <p:cNvSpPr txBox="1"/>
          <p:nvPr/>
        </p:nvSpPr>
        <p:spPr>
          <a:xfrm>
            <a:off x="6096000" y="1169788"/>
            <a:ext cx="565738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Teste Ljung-Box</a:t>
            </a:r>
          </a:p>
          <a:p>
            <a:pPr algn="just"/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O teste Ljung-Box verifica se há autocorrelação residual nos resíduos de um modelo. Se o p-valor for baixo (&lt;0,05), rejeita-se a hipótese nula de que os resíduos são aleatórios, indicando autocorrelação.</a:t>
            </a:r>
          </a:p>
          <a:p>
            <a:pPr algn="just"/>
            <a:endParaRPr lang="pt-BR" sz="16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Por que Q=12?</a:t>
            </a:r>
          </a:p>
          <a:p>
            <a:pPr algn="just"/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O valor Q=12 corresponde a 12 meses (um ano), usado para verificar autocorrelação mensal ou sazonal nos dados (comum em séries temporais econômicas)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CCA5F3C-5B1B-4E15-03A4-58B6B4E89D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5146" y="4597190"/>
            <a:ext cx="5756910" cy="15665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3375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1AE8B-7D1C-D34F-2A99-A8566861A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43373D1-8BA4-37AC-AC03-E0A94815B3C7}"/>
              </a:ext>
            </a:extLst>
          </p:cNvPr>
          <p:cNvSpPr txBox="1"/>
          <p:nvPr/>
        </p:nvSpPr>
        <p:spPr>
          <a:xfrm>
            <a:off x="0" y="854431"/>
            <a:ext cx="11955965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Padronização (z-score)</a:t>
            </a:r>
          </a:p>
          <a:p>
            <a:pPr algn="just"/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Implementada apenas no treino a cada passo do rolling; aplicada ao mês previsto em seguida.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Isso coloca os preditores na mesma escala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, melhora a estabilidade numérica e facilita a leitura relativa dos coeficientes — sem padronizar o alvo ΔIBOV.</a:t>
            </a:r>
          </a:p>
          <a:p>
            <a:endParaRPr lang="pt-BR" sz="1600" dirty="0"/>
          </a:p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Correlação entre preditores</a:t>
            </a:r>
          </a:p>
          <a:p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O heatmap indica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correlações fracas a moderadas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. Sem evidência de </a:t>
            </a:r>
            <a:r>
              <a:rPr lang="pt-BR" sz="20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multicolinearidade 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forte, o que é favorável ao ARIMAX.</a:t>
            </a:r>
          </a:p>
          <a:p>
            <a:pPr algn="just"/>
            <a:endParaRPr lang="pt-BR" sz="12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2A923DC2-B53D-B9FA-1727-0BDDB0A027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1077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pt-BR" sz="24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Metodologia | Variáveis (4/4) — Padronização &amp; Colinearidade </a:t>
            </a:r>
          </a:p>
        </p:txBody>
      </p:sp>
      <p:pic>
        <p:nvPicPr>
          <p:cNvPr id="4098" name="Picture 2" descr="Gráfico, Gráfico de mapa de árvore&#10;&#10;O conteúdo gerado por IA pode estar incorreto.">
            <a:extLst>
              <a:ext uri="{FF2B5EF4-FFF2-40B4-BE49-F238E27FC236}">
                <a16:creationId xmlns:a16="http://schemas.microsoft.com/office/drawing/2014/main" id="{E73DB8B3-7AB5-0A8B-0CD9-E0942A28D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4357" y="3013036"/>
            <a:ext cx="4667250" cy="355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5969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51BBA-F049-075A-F8C1-C2C100885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6214263-56FB-838C-C908-A260101AF06F}"/>
              </a:ext>
            </a:extLst>
          </p:cNvPr>
          <p:cNvSpPr txBox="1"/>
          <p:nvPr/>
        </p:nvSpPr>
        <p:spPr>
          <a:xfrm>
            <a:off x="0" y="854431"/>
            <a:ext cx="11955965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Após os diagnósticos, para prever o Ibovespa, utilizamos os modelos ARIMA e ARIMAX. O alvo do modelo é a variação mensal do Ibovespa (ΔIBOV), e as variáveis exógenas são Selic, IPCA (m/m) e USD/BRL, que podem ser defasadas</a:t>
            </a:r>
          </a:p>
          <a:p>
            <a:pPr algn="just"/>
            <a:endParaRPr lang="pt-BR" sz="1400" b="1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Como funcionam os modelos</a:t>
            </a:r>
          </a:p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ARIMA (AutoRegressive Integrated Moving Average) </a:t>
            </a:r>
            <a: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é um modelo que explica o valor atual de uma série temporal como uma combinação de valores passados (AR - memória curta) e o erro de previsões anteriores (MA - erros passados).</a:t>
            </a:r>
          </a:p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ARIMAX é uma extensão do ARIMA </a:t>
            </a:r>
            <a: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que, além de considerar as variáveis passadas e os erros passados, também inclui variáveis externas (exógenas) para captar efeitos contemporâneos.</a:t>
            </a:r>
          </a:p>
          <a:p>
            <a:endParaRPr lang="pt-BR" sz="14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Os componentes do ARIMA/ARIMAX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p: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 Número de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termos AR (AutoRegressivos)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,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 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ou seja, quantos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valores passados 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da série são utilizados para prever o futuro.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q: 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Número de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termos MA (Moving Average)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,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 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ou seja, quantos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erros passados 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da série influenciam a previsão.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d: 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Número de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diferenciações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 realizadas para tornar a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série estacionária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, removendo tendências ou sazonalidades.</a:t>
            </a:r>
          </a:p>
          <a:p>
            <a:endParaRPr lang="pt-BR" sz="1600" dirty="0"/>
          </a:p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Por que desses modelos?</a:t>
            </a:r>
          </a:p>
          <a:p>
            <a:pPr algn="just"/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O ARIMA é útil quando está-se lidando apenas com o comportamento passado da série e quer-se prever o futuro com base nesse histórico. O ARIMAX entra em cena quando precisa-se levar em conta fatores externos que também influenciam a série, como taxas de juros, inflação e câmbio.</a:t>
            </a:r>
          </a:p>
          <a:p>
            <a:endParaRPr lang="pt-BR" sz="14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algn="just"/>
            <a:endParaRPr lang="pt-BR" sz="1400" b="1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endParaRPr lang="pt-BR" dirty="0"/>
          </a:p>
          <a:p>
            <a:pPr algn="just"/>
            <a:endParaRPr lang="pt-BR" sz="12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68C12258-C293-B60C-A05F-3C5474F04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1077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pt-BR" sz="24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Metodologia | Especificação dos Modelos (ARIMA/ARIMAX)</a:t>
            </a:r>
          </a:p>
        </p:txBody>
      </p:sp>
    </p:spTree>
    <p:extLst>
      <p:ext uri="{BB962C8B-B14F-4D97-AF65-F5344CB8AC3E}">
        <p14:creationId xmlns:p14="http://schemas.microsoft.com/office/powerpoint/2010/main" val="1037810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CFBCA-5D63-A615-4848-CBE688045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8C9BAAD-85FC-6E4F-90DC-CFFB9C6C126C}"/>
              </a:ext>
            </a:extLst>
          </p:cNvPr>
          <p:cNvSpPr txBox="1"/>
          <p:nvPr/>
        </p:nvSpPr>
        <p:spPr>
          <a:xfrm>
            <a:off x="0" y="854431"/>
            <a:ext cx="11955965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Selecionando valores para: p e q</a:t>
            </a:r>
          </a:p>
          <a:p>
            <a:pPr algn="just"/>
            <a:endParaRPr lang="pt-BR" sz="16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algn="just"/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Seguindo a abordagem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Box–Jenkins (identificação → estimação → validação)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,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 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usa-se ACF/PACF e parcimônia para restringir o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grid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 e escolher as ordens (p,q) com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AICc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 no treino. Opta-se pelo AICc, pois ele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corrige vieses em amostras finitas.</a:t>
            </a:r>
          </a:p>
          <a:p>
            <a:endParaRPr lang="pt-BR" sz="16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Lags das exógenas</a:t>
            </a:r>
          </a:p>
          <a:p>
            <a:endParaRPr lang="pt-BR" b="1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algn="just"/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Testa-se lags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(L ∈ {0, 1, ..., 6})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 de duas formas: lag comum e lags por variável. A combinação que melhor atendeu a AICc/erro no treino foi congelada antes da avaliação fora da amostra, evitando vazamento de informação.</a:t>
            </a:r>
          </a:p>
          <a:p>
            <a:endParaRPr lang="pt-BR" sz="16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Validação fora da amostra</a:t>
            </a:r>
            <a:b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</a:br>
            <a:endParaRPr lang="pt-BR" sz="16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algn="just"/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Usamos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rolling 1-step 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com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hold-out (base de teste) de 36 meses 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e janela expansiva, reestimando o modelo a cada passo.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As comparações consideraram MAE, RMSE e o teste de Diebold–Mariano, com resíduos checados com Ljung-Box Q(12).</a:t>
            </a:r>
          </a:p>
          <a:p>
            <a:endParaRPr lang="pt-BR" sz="14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algn="just"/>
            <a:endParaRPr lang="pt-BR" sz="1400" b="1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endParaRPr lang="pt-BR" dirty="0"/>
          </a:p>
          <a:p>
            <a:pPr algn="just"/>
            <a:endParaRPr lang="pt-BR" sz="12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1D7ED30F-ECDC-08E8-C06D-C8B6DBD839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1077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pt-BR" sz="24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Metodologia | Ordens, Defasagens e Validação (AICc + Rolling 1-step)</a:t>
            </a:r>
          </a:p>
        </p:txBody>
      </p:sp>
    </p:spTree>
    <p:extLst>
      <p:ext uri="{BB962C8B-B14F-4D97-AF65-F5344CB8AC3E}">
        <p14:creationId xmlns:p14="http://schemas.microsoft.com/office/powerpoint/2010/main" val="1751736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53D9C-6C55-F421-32F3-94687C194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7F054B7-5CB8-A6A7-1E5D-B2D44D7AFC11}"/>
              </a:ext>
            </a:extLst>
          </p:cNvPr>
          <p:cNvSpPr txBox="1"/>
          <p:nvPr/>
        </p:nvSpPr>
        <p:spPr>
          <a:xfrm>
            <a:off x="0" y="854431"/>
            <a:ext cx="1195596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Métricas utilizadas</a:t>
            </a:r>
            <a:br>
              <a:rPr lang="pt-BR" sz="1600" dirty="0"/>
            </a:b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Para avaliar a precisão das previsões, usamos as seguintes métricas:</a:t>
            </a:r>
          </a:p>
          <a:p>
            <a:endParaRPr lang="pt-BR" sz="16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MAE (Erro Absoluto Médio)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: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 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Mede a média dos erros absolutos, proporcionando uma visão direta de quão distante estão as previsões dos valores reais.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RMSE (Raiz do Erro Quadrático Médio)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: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 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Calcula o erro quadrático médio, com maior penalização para grandes erros.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Teste Diebold–Mariano (DM)</a:t>
            </a:r>
          </a:p>
          <a:p>
            <a:pPr algn="just"/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Além das métricas acima, utiliza-se, também, o teste de Diebold–Mariano, que compara a precisão de dois modelos, aplicando a versão com correção para pequenas amostras em modelos temporais (rolling 1-step).</a:t>
            </a:r>
            <a:b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</a:b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O teste mede diferenças de erro ao longo do tempo, ajudando a verificar qual modelo se comporta melhor ao longo do período de previsão.</a:t>
            </a:r>
          </a:p>
          <a:p>
            <a:endParaRPr lang="pt-BR" sz="16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Validação dos resíduos</a:t>
            </a:r>
            <a:b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</a:b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Para garantir a qualidade das previsões, os resíduos são checados usando o teste Ljung-Box Q(12), que avalia a autocorrelação nos resíduos ao longo do tempo, garantindo que não haja padrões não explicados pelos modelos.</a:t>
            </a:r>
          </a:p>
          <a:p>
            <a:endParaRPr lang="pt-BR" sz="14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algn="just"/>
            <a:endParaRPr lang="pt-BR" sz="1400" b="1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endParaRPr lang="pt-BR" dirty="0"/>
          </a:p>
          <a:p>
            <a:pPr algn="just"/>
            <a:endParaRPr lang="pt-BR" sz="12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5138064F-282D-C3DA-2BF3-376EF4190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1077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pt-BR" sz="24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Metodologia | MAE, RMSE e Teste de Diebold–Mariano</a:t>
            </a:r>
          </a:p>
          <a:p>
            <a:pPr eaLnBrk="1" hangingPunct="1"/>
            <a:endParaRPr lang="pt-BR" sz="2400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321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FE10E-76DD-AB78-24CC-8042E27F5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50D735E-7A69-75FD-4A74-80A40E93AB3D}"/>
              </a:ext>
            </a:extLst>
          </p:cNvPr>
          <p:cNvSpPr txBox="1"/>
          <p:nvPr/>
        </p:nvSpPr>
        <p:spPr>
          <a:xfrm>
            <a:off x="0" y="854431"/>
            <a:ext cx="11955965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O que é avaliado (fora da amostra)</a:t>
            </a:r>
          </a:p>
          <a:p>
            <a:br>
              <a:rPr lang="pt-BR" dirty="0"/>
            </a:b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Comparamos modelos OOS (rolling 1-step do estudo) para eleger o melhor desempenho.</a:t>
            </a:r>
          </a:p>
          <a:p>
            <a:endParaRPr lang="pt-BR" sz="16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Baseline e benchmarks</a:t>
            </a:r>
          </a:p>
          <a:p>
            <a:endParaRPr lang="pt-BR" b="1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Baseline: ARIMA univariado estimado em ΔIBOV, selecionado por AICc no treino.</a:t>
            </a:r>
          </a:p>
          <a:p>
            <a:endParaRPr lang="pt-BR" sz="16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Benchmarks ingênuos (piso):</a:t>
            </a:r>
          </a:p>
          <a:p>
            <a:endParaRPr lang="pt-BR" sz="1600" b="1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Ruído branco 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— ARIMA(0,0,0);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Random walk 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(sem drift) — ARIMA(0,1,0);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Random walk 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(com drift) — ARIMA(0,1,0) com constante</a:t>
            </a:r>
          </a:p>
          <a:p>
            <a:endParaRPr lang="pt-BR" sz="16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Medição da contribuição das exógenas</a:t>
            </a:r>
          </a:p>
          <a:p>
            <a:endParaRPr lang="pt-BR" b="1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Ablation (FULL / DROP / ONLY)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: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 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adiciona-se/remove-se variáveis e mede-se o impacto OOS (fora da amostra).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Importância por permutação (com blocos)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: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 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permutação das exógenas apenas no teste, em blocos de 3 meses, preservando dependência temporal e evitando vazamento.</a:t>
            </a:r>
          </a:p>
          <a:p>
            <a:endParaRPr lang="pt-BR" sz="14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algn="just"/>
            <a:endParaRPr lang="pt-BR" sz="1400" b="1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endParaRPr lang="pt-BR" dirty="0"/>
          </a:p>
          <a:p>
            <a:pPr algn="just"/>
            <a:endParaRPr lang="pt-BR" sz="12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6456AF66-0D66-7093-25AB-A5E5E591F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1077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pt-BR" sz="24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Metodologia | Benchmarking e Sensibilidade das Exógenas</a:t>
            </a:r>
          </a:p>
        </p:txBody>
      </p:sp>
    </p:spTree>
    <p:extLst>
      <p:ext uri="{BB962C8B-B14F-4D97-AF65-F5344CB8AC3E}">
        <p14:creationId xmlns:p14="http://schemas.microsoft.com/office/powerpoint/2010/main" val="2841495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DA9AF-D798-7B76-78E4-1EF3B5362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EFEDE1B-7091-2852-63B1-2BBF12CF13EA}"/>
              </a:ext>
            </a:extLst>
          </p:cNvPr>
          <p:cNvSpPr txBox="1"/>
          <p:nvPr/>
        </p:nvSpPr>
        <p:spPr>
          <a:xfrm>
            <a:off x="0" y="854431"/>
            <a:ext cx="1195596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Objetivo da Comparação:</a:t>
            </a:r>
          </a:p>
          <a:p>
            <a:pPr algn="just"/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O objetivo deste slide é detalhar os resultados da comparação entre os modelos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ARIMAX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 e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ARIMA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 com base nas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métricas de desempenho 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(MAE, RMSE) e na análise dos resíduos (testes de Ljung-Box).</a:t>
            </a:r>
          </a:p>
          <a:p>
            <a:endParaRPr lang="pt-BR" sz="16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Resultados da Comparação:</a:t>
            </a:r>
          </a:p>
          <a:p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Desempenho in-sample (treinamento):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ARIMAX (3,0,4) 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teve desempenho ligeiramente melhor do que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ARIMA (3,0,4)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,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 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com uma melhoria de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~4,25 no AICc.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O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ARIMA univariado 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foi utilizado como benchmark base, com modelos simples como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ruído branco e random walk com drift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 sendo comparados para avaliar a eficácia do ARIMAX em modelar os dados com variáveis exógenas.</a:t>
            </a:r>
          </a:p>
          <a:p>
            <a:endParaRPr lang="pt-BR" sz="14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algn="just"/>
            <a:endParaRPr lang="pt-BR" sz="1400" b="1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endParaRPr lang="pt-BR" dirty="0"/>
          </a:p>
          <a:p>
            <a:pPr algn="just"/>
            <a:endParaRPr lang="pt-BR" sz="12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473D7603-0FAB-C05B-21A0-5B4B699EC0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1077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pt-BR" sz="24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Resultados e Discussão | Comparação de Modelos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568C28A-B3D6-81E2-7F99-40CF39DCD999}"/>
              </a:ext>
            </a:extLst>
          </p:cNvPr>
          <p:cNvSpPr txBox="1"/>
          <p:nvPr/>
        </p:nvSpPr>
        <p:spPr>
          <a:xfrm>
            <a:off x="118481" y="3735659"/>
            <a:ext cx="6543906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Análise dos Resíduos (Testes de Ljung-Box):</a:t>
            </a:r>
          </a:p>
          <a:p>
            <a:pPr algn="just"/>
            <a:endParaRPr lang="pt-BR" sz="1600" b="1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algn="just"/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Ambos os modelos ARIMA e ARIMAX apresentaram p-valores elevados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(≈0,83 para ARIMA e ≈0,79 para ARIMAX).</a:t>
            </a:r>
          </a:p>
          <a:p>
            <a:pPr algn="just"/>
            <a:endParaRPr lang="pt-BR" sz="16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algn="just"/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Conclusão:</a:t>
            </a:r>
          </a:p>
          <a:p>
            <a:pPr algn="just"/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O ARIMAX (3,0,4), apesar de ter um desempenho um pouco superior ao ARIMA (3,0,4), não apresentou ganhos significativos de performance in-sample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. Os resultados dos testes de Ljung-Box indicam que ambos os modelos são adequados para o ajuste, mas o ARIMA (3,0,4) continua sendo um benchmark sólido.</a:t>
            </a:r>
          </a:p>
          <a:p>
            <a:pPr algn="just"/>
            <a:endParaRPr lang="pt-BR" sz="14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algn="just"/>
            <a:endParaRPr lang="pt-BR" sz="1400" b="1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endParaRPr lang="pt-BR" dirty="0"/>
          </a:p>
          <a:p>
            <a:pPr algn="just"/>
            <a:endParaRPr lang="pt-BR" sz="12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C72782C-DDFF-C409-8C5A-1CC3AAD39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6347" y="3875915"/>
            <a:ext cx="5259618" cy="20049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52899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F3C0C-FC32-429C-4C97-F82B76A8E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7C49AD5-3D57-C967-5D2F-072460E9A679}"/>
              </a:ext>
            </a:extLst>
          </p:cNvPr>
          <p:cNvSpPr txBox="1"/>
          <p:nvPr/>
        </p:nvSpPr>
        <p:spPr>
          <a:xfrm>
            <a:off x="0" y="854431"/>
            <a:ext cx="11955965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Comparar o desempenho de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ARIMAX e ARIMA 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univariado fora da amostra utilizando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MAE e RMSE 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em dados de validação.</a:t>
            </a:r>
          </a:p>
          <a:p>
            <a:endParaRPr lang="pt-BR" sz="16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Resultados OOS:</a:t>
            </a:r>
          </a:p>
          <a:p>
            <a:endParaRPr lang="pt-BR" b="1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algn="just"/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Rolling 1-step com janela de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36 meses (hold-out)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, reestimando o modelo a cada passo.</a:t>
            </a:r>
          </a:p>
          <a:p>
            <a:pPr algn="just"/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ARIMA (3,0,4) mostrou desempenho levemente melhor que o ARIMAX (3,0,4), mas a diferença foi insignificante (e ~1,9% no MAE e ~0,9% no RMSE)</a:t>
            </a:r>
          </a:p>
          <a:p>
            <a:pPr algn="just"/>
            <a:endParaRPr lang="pt-BR" sz="16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Métricas OOS:</a:t>
            </a:r>
          </a:p>
          <a:p>
            <a:endParaRPr lang="pt-BR" b="1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ARIMAX (3,0,4), LAG 1: MAE = 4601.87, RMSE = 5481.06</a:t>
            </a:r>
          </a:p>
          <a:p>
            <a:endParaRPr lang="pt-BR" sz="16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ARIMA (3,0,4): MAE = 4513.54, RMSE = 5432.58</a:t>
            </a:r>
          </a:p>
          <a:p>
            <a:endParaRPr lang="pt-BR" sz="16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algn="ctr"/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Conclusão:</a:t>
            </a:r>
          </a:p>
          <a:p>
            <a:pPr algn="just"/>
            <a:b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</a:br>
            <a:r>
              <a:rPr lang="pt-BR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Com isso, para essa configuração inicial, </a:t>
            </a:r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as variáveis macroeconômicas não acrescentaram poder preditivo relevante em um cenário de curto prazo</a:t>
            </a:r>
            <a:r>
              <a:rPr lang="pt-BR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; a pequena vantagem in-sample do ARIMAX (ΔAICc ≈ −4,25) não se materializou OOS. Essa conclusão, novamente, é coerente com achados de previsibilidade frágil e instável em frequência mensal.</a:t>
            </a:r>
          </a:p>
          <a:p>
            <a:pPr algn="just"/>
            <a:endParaRPr lang="pt-BR" sz="1400" b="1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endParaRPr lang="pt-BR" dirty="0"/>
          </a:p>
          <a:p>
            <a:pPr algn="just"/>
            <a:endParaRPr lang="pt-BR" sz="12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19618093-F974-4402-3C34-4A2CE31A5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1077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pt-BR" sz="24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Resultados e Discussão | Análise Fora da Amostra (OOS)</a:t>
            </a:r>
          </a:p>
        </p:txBody>
      </p:sp>
    </p:spTree>
    <p:extLst>
      <p:ext uri="{BB962C8B-B14F-4D97-AF65-F5344CB8AC3E}">
        <p14:creationId xmlns:p14="http://schemas.microsoft.com/office/powerpoint/2010/main" val="16518017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3E1D4-0303-7515-42CC-9BAAFC6C2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870C782-5E1D-03CF-44C2-B9285EC6C166}"/>
              </a:ext>
            </a:extLst>
          </p:cNvPr>
          <p:cNvSpPr txBox="1"/>
          <p:nvPr/>
        </p:nvSpPr>
        <p:spPr>
          <a:xfrm>
            <a:off x="0" y="965943"/>
            <a:ext cx="737095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Para verificar se o </a:t>
            </a:r>
            <a:r>
              <a:rPr lang="pt-BR" sz="14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insucesso da defasagem </a:t>
            </a:r>
            <a: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de um mês para as variáveis exógenas </a:t>
            </a:r>
            <a:r>
              <a:rPr lang="pt-BR" sz="14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(L = 1) </a:t>
            </a:r>
            <a: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não decorre de um mau alinhamento temporal — e para </a:t>
            </a:r>
            <a:r>
              <a:rPr lang="pt-BR" sz="14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testar outras defasagens </a:t>
            </a:r>
            <a: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—, realizou-se — somente no treino, mantendo a estrutura ARMA (3, 4), — </a:t>
            </a:r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seleção interna de defasagem comum 𝐿 ∈ {1,…,6}</a:t>
            </a:r>
            <a: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.</a:t>
            </a:r>
          </a:p>
          <a:p>
            <a:pPr algn="just"/>
            <a:endParaRPr lang="pt-BR" sz="16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Análise da Tabela:</a:t>
            </a:r>
          </a:p>
          <a:p>
            <a:endParaRPr lang="pt-BR" b="1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algn="just"/>
            <a: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 Tabela indica </a:t>
            </a:r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L=4 </a:t>
            </a:r>
            <a: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como o menor </a:t>
            </a:r>
            <a:r>
              <a:rPr lang="pt-BR" sz="14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AICc (5035,87), </a:t>
            </a:r>
            <a: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à frente de </a:t>
            </a:r>
            <a:r>
              <a:rPr lang="pt-BR" sz="14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L=1 (5037,84) </a:t>
            </a:r>
            <a: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e</a:t>
            </a:r>
            <a:r>
              <a:rPr lang="pt-BR" sz="14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 L=6 (5039,17)</a:t>
            </a:r>
            <a: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.</a:t>
            </a:r>
            <a:r>
              <a:rPr lang="pt-BR" sz="14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 </a:t>
            </a:r>
            <a: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Mesmo havendo uma diferença irrisória (ΔAICc ≈ 2 p.p em relação à L = 1) é uma aplicação plausível do ponto de vista econômico, uma vez que, </a:t>
            </a:r>
            <a:r>
              <a:rPr lang="pt-BR" sz="14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 transmissão de choques de juros e inflação aos preços pode levar alguns meses.  </a:t>
            </a:r>
            <a: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Posteriormente, levou-se L=4 como candidata para a etapa OOS.</a:t>
            </a:r>
          </a:p>
          <a:p>
            <a:pPr algn="just"/>
            <a:endParaRPr lang="pt-BR" sz="16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Conclusão:</a:t>
            </a:r>
          </a:p>
          <a:p>
            <a:pPr algn="just"/>
            <a:br>
              <a:rPr lang="pt-BR" sz="1600" dirty="0"/>
            </a:b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Repetindo o OOS com L=4 (ARMA 3,0,4 fixo): ARIMA puro teve MAE 4444,24 e RMSE 5334,03; ARIMAX L=4 teve MAE 4643,70 e RMSE 5563,83 — piora de ~4,5% (MAE) e ~4,3% (RMSE). Como o ganho in-sample de L=4 era tênue (ΔAICc ≈ 2 vs. L=1), não generalizou.</a:t>
            </a:r>
          </a:p>
          <a:p>
            <a:pPr algn="just"/>
            <a:endParaRPr lang="pt-BR" sz="12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09BC4D10-0DC0-04E5-CA04-50E97E045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1077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pt-BR" sz="24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Resultados e Discussão | Análise das Defasagens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9148930-01C0-D041-0690-F3FDEC16A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3023" y="2043398"/>
            <a:ext cx="5756910" cy="2504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413928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9188F-8A87-DB9B-2E79-ED3AE9975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D713482-80E6-FE55-26E4-77AAEE2097D6}"/>
              </a:ext>
            </a:extLst>
          </p:cNvPr>
          <p:cNvSpPr txBox="1"/>
          <p:nvPr/>
        </p:nvSpPr>
        <p:spPr>
          <a:xfrm>
            <a:off x="0" y="965943"/>
            <a:ext cx="665727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Como verificação adicional de robustez, realizou-se um estudo de performance </a:t>
            </a:r>
            <a:r>
              <a:rPr lang="pt-BR" sz="14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fora da amostra/ambiente de teste </a:t>
            </a:r>
            <a: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— avaliando lags comuns 𝐿∈{1,…,6} e </a:t>
            </a:r>
            <a:r>
              <a:rPr lang="pt-BR" sz="14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tuplas por variável</a:t>
            </a:r>
            <a: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 (isto é, cada variável exógena possuindo uma defasagem diferente).</a:t>
            </a:r>
          </a:p>
          <a:p>
            <a:pPr algn="just"/>
            <a:endParaRPr lang="pt-BR" sz="16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Análise da Tabela:</a:t>
            </a:r>
          </a:p>
          <a:p>
            <a:endParaRPr lang="pt-BR" b="1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algn="just"/>
            <a: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Nessa exploração na base de testes, </a:t>
            </a:r>
            <a:r>
              <a:rPr lang="pt-BR" sz="14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algumas configurações superaram o benchmark em métricas</a:t>
            </a:r>
            <a: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: p.ex., lag comum </a:t>
            </a:r>
            <a:r>
              <a:rPr lang="pt-BR" sz="20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L=6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 </a:t>
            </a:r>
            <a: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obteve </a:t>
            </a:r>
            <a:r>
              <a:rPr lang="pt-BR" sz="14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MAE≈4429 e RMSE≈5349 (vs. 4505/5452 do ARIMA puro na mesma amostra) </a:t>
            </a:r>
            <a: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e a tupla </a:t>
            </a:r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(SELIC, IPCA, DÓLAR) = (2,1,6) </a:t>
            </a:r>
            <a: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atingiu </a:t>
            </a:r>
            <a:r>
              <a:rPr lang="pt-BR" sz="14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MAE≈4366 e RMSE≈5240 (ΔMAE≈−139; ΔRMSE≈−212)</a:t>
            </a:r>
            <a: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. Entretanto, por utilizarem o mesmo hold-out para busca e avaliação, tais ganhos são otimistas (risco de </a:t>
            </a:r>
            <a:r>
              <a:rPr lang="pt-BR" sz="14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data snooping</a:t>
            </a:r>
            <a: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).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27580B42-8B88-07FB-C7A7-FAF57B778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1077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pt-BR" sz="24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Resultados e Discussão | Análise das Métricas (OOS)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3E778D7-DD96-3D86-CB7D-F22ABCFE61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2696" y="1593580"/>
            <a:ext cx="5223885" cy="2272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A4116DD-DA80-C5DC-F2B3-350F280130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184" y="4521486"/>
            <a:ext cx="5756910" cy="21863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4873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9ADB0-F210-B4B0-6496-FFC944007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47D5D4B-504B-9001-514C-C70E9861B4A0}"/>
              </a:ext>
            </a:extLst>
          </p:cNvPr>
          <p:cNvSpPr txBox="1"/>
          <p:nvPr/>
        </p:nvSpPr>
        <p:spPr>
          <a:xfrm>
            <a:off x="0" y="887884"/>
            <a:ext cx="6512312" cy="5493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1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Para mitigar otimismo do teste, a busca ocorre só no treino em duas etapas:</a:t>
            </a:r>
          </a:p>
          <a:p>
            <a:pPr algn="just"/>
            <a:br>
              <a:rPr lang="pt-BR" sz="11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</a:br>
            <a:r>
              <a:rPr lang="pt-BR" sz="11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(i) pré-seleção por AICc in-sample (defasagens aplicadas antes do corte, z-score só no treino, ARMA fixo em (3,0,4));</a:t>
            </a:r>
          </a:p>
          <a:p>
            <a:pPr algn="just"/>
            <a:r>
              <a:rPr lang="pt-BR" sz="11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(ii) validação interna rolling 1-step (~24 meses), com re-estimação a cada passo.</a:t>
            </a:r>
          </a:p>
          <a:p>
            <a:pPr algn="just"/>
            <a:endParaRPr lang="pt-BR" sz="11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Em </a:t>
            </a:r>
            <a:r>
              <a:rPr lang="pt-BR" sz="14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lags comuns</a:t>
            </a:r>
            <a: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,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L=3 </a:t>
            </a:r>
            <a: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superou L=4 e L=6.</a:t>
            </a:r>
          </a:p>
          <a:p>
            <a:endParaRPr lang="pt-BR" sz="11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algn="just"/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Resultados da Tabela :</a:t>
            </a:r>
          </a:p>
          <a:p>
            <a:pPr algn="just"/>
            <a:r>
              <a:rPr lang="pt-BR" sz="12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 Tabela apresenta as métricas MAE e RMSE para as diferentes combinações de lags no ambiente de treino. As combinações mais promissoras foram: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Lag (4,3,3): obteve MAE = 5043.44 e RMSE = 6274.97, destacando-se no desempenho do modelo.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2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Lag (4,5,5): apresentou MAE = 4917.00 e RMSE = 6348.73, com uma leve melhoria em relação ao modelo anterior.</a:t>
            </a:r>
          </a:p>
          <a:p>
            <a:pPr algn="just"/>
            <a:endParaRPr lang="pt-BR" sz="12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algn="just"/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Decisão para o OOS:</a:t>
            </a:r>
          </a:p>
          <a:p>
            <a:pPr algn="just"/>
            <a:r>
              <a:rPr lang="pt-BR" sz="12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Levar adiante duas candidatas para o hold-out de 36 meses (rolling 1-step, re-estimação):</a:t>
            </a:r>
          </a:p>
          <a:p>
            <a:pPr algn="just"/>
            <a:r>
              <a:rPr lang="pt-BR" sz="12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Testadas as tuplas pré-selecionadas contra ARIMA (3,0,4), nenhuma superou o benchmark: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2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(5,3,5) ≈ MAE 4917 | RMSE 6349 (pior que o ARIMA ≈ MAE 4514 | RMSE 5433).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2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(4,3,3) ≈ MAE 4703 | RMSE 5750 (também inferior).</a:t>
            </a:r>
          </a:p>
          <a:p>
            <a:endParaRPr lang="pt-BR" sz="1400" b="1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algn="just"/>
            <a:r>
              <a:rPr lang="pt-BR" sz="14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Leitura: sinais macro não agregaram poder preditivo robusto no curto prazo sob esse protocolo.</a:t>
            </a:r>
          </a:p>
          <a:p>
            <a:pPr algn="just"/>
            <a:endParaRPr lang="pt-BR" sz="14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D143AECB-007D-6938-4E1D-72A0DA5CA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1077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pt-BR" sz="24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Resultados e Discussão | Análise de Defasagens no Ambiente de Treino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6BB0C43-FCC5-6CAB-0F02-5E6C2711E4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6127" y="2018439"/>
            <a:ext cx="5238278" cy="3422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13889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EFB7C-5508-808E-BDD7-496F91BC4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A20C3CD-67A2-985F-C74A-6958FA45AE12}"/>
              </a:ext>
            </a:extLst>
          </p:cNvPr>
          <p:cNvSpPr txBox="1"/>
          <p:nvPr/>
        </p:nvSpPr>
        <p:spPr>
          <a:xfrm>
            <a:off x="0" y="856357"/>
            <a:ext cx="5653668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Por que testar a alternativa?</a:t>
            </a:r>
          </a:p>
          <a:p>
            <a:pPr algn="just"/>
            <a:r>
              <a:rPr lang="pt-BR" sz="12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Os diagnósticos de ACF/PACF do ΔIBOV sugerem memória curta. Manter um ARMA baixo e adicionar exógenas via </a:t>
            </a:r>
            <a:r>
              <a:rPr lang="pt-BR" sz="12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ARIMAX(1,0,1) </a:t>
            </a:r>
            <a:r>
              <a:rPr lang="pt-BR" sz="12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ajuda a isolar o efeito das regressoras sem superparametrizar o modelo.</a:t>
            </a:r>
          </a:p>
          <a:p>
            <a:pPr algn="just"/>
            <a:endParaRPr lang="pt-BR" sz="12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algn="just"/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Resultados da Tabela :</a:t>
            </a:r>
          </a:p>
          <a:p>
            <a:pPr algn="just"/>
            <a:endParaRPr lang="pt-BR" sz="14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Com tupla (5,3,5), o ARIMAX(1,0,1) obteve MAE ≈ 4468,7 e RMSE ≈ 5400,1, ligeiramente melhor que o benchmark univariado</a:t>
            </a:r>
            <a: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 (≈ 4513,5 / 5432,6), isto é, ΔMAE ≈ −44,9 e ΔRMSE ≈ −19,0.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Com tupla (4,3,3), o modelo melhora o RMSE (≈ 5380,2), mas piora o MAE (≈ 4585,3). </a:t>
            </a:r>
          </a:p>
          <a:p>
            <a:pPr algn="just"/>
            <a: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Em ambos os casos, o teste de Diebold–Mariano não rejeita igualdade de acurácia (p(MAE) ≈ 0,90 / 0,81; p(MSE) ≈ 0,94 / 0,86),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indicando ganhos marginais e não significativos.</a:t>
            </a:r>
          </a:p>
          <a:p>
            <a:pPr algn="just"/>
            <a:endParaRPr lang="pt-BR" sz="14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7FE299DB-DD53-DC02-DC10-14BED8351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1077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pt-BR" sz="24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Resultados e Discussão | ARIMAX(1,0,1) com tuplas de defasagens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4D8EAAB-B10A-34BC-B59B-1BF0B7E3FE37}"/>
              </a:ext>
            </a:extLst>
          </p:cNvPr>
          <p:cNvSpPr txBox="1"/>
          <p:nvPr/>
        </p:nvSpPr>
        <p:spPr>
          <a:xfrm>
            <a:off x="78059" y="4568569"/>
            <a:ext cx="1189303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pt-BR" sz="14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Conclusão prática:</a:t>
            </a:r>
          </a:p>
          <a:p>
            <a:pPr algn="just"/>
            <a:br>
              <a:rPr lang="pt-BR" sz="1400" dirty="0"/>
            </a:br>
            <a:r>
              <a:rPr lang="pt-BR" sz="24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O ARIMAX(1,0,1) com (5,3,5) e (4,3,3) não supera de forma robusta o ARIMA(3,0,4) fora da amostra</a:t>
            </a:r>
            <a:r>
              <a:rPr lang="pt-BR" sz="20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; os ganhos observados são pequenos e estatisticamente frágeis. </a:t>
            </a:r>
          </a:p>
          <a:p>
            <a:pPr algn="just"/>
            <a:endParaRPr lang="pt-BR" sz="14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C37E6D2-D0FD-6E66-308C-60C03B45D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3928" y="1570792"/>
            <a:ext cx="5756910" cy="2504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99991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1006F-6864-4F51-05F5-0F27432DE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E19F076-0077-F0B5-3C38-57C0B7D8BBF2}"/>
              </a:ext>
            </a:extLst>
          </p:cNvPr>
          <p:cNvSpPr txBox="1"/>
          <p:nvPr/>
        </p:nvSpPr>
        <p:spPr>
          <a:xfrm>
            <a:off x="0" y="856357"/>
            <a:ext cx="5653668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Objetivo da Análise:</a:t>
            </a:r>
          </a:p>
          <a:p>
            <a:pPr algn="just"/>
            <a: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Avaliar o impacto da exclusão de variáveis no desempenho do modelo.</a:t>
            </a:r>
          </a:p>
          <a:p>
            <a:pPr algn="just"/>
            <a:endParaRPr lang="pt-BR" sz="12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Método de Análise:</a:t>
            </a:r>
          </a:p>
          <a:p>
            <a:pPr algn="just"/>
            <a:r>
              <a:rPr lang="pt-BR" sz="14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Teste de exclusão de variáveis</a:t>
            </a:r>
            <a: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 (FULL/DROP/ONLY) com o </a:t>
            </a:r>
            <a:r>
              <a:rPr lang="pt-BR" sz="14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modelo ARIMAX (1,0,1) e lags (5,3,5) </a:t>
            </a:r>
            <a: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para variáveis exógenas (Selic, IPCA, Dólar).</a:t>
            </a:r>
          </a:p>
          <a:p>
            <a:pPr algn="just"/>
            <a:endParaRPr lang="pt-BR" sz="14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algn="just"/>
            <a: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A análise é realizada em duas fases: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In-Sample: Seleção por AICc.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4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Out-of-Sample (OOS): Teste de desempenho com dados de 36 meses.</a:t>
            </a:r>
          </a:p>
          <a:p>
            <a:pPr algn="just"/>
            <a:endParaRPr lang="pt-BR" sz="14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Resultados da Análise:</a:t>
            </a:r>
          </a:p>
          <a:p>
            <a:endParaRPr lang="pt-BR" b="1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algn="just"/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O modelo FULL (com todas as variáveis) apresenta o melhor AICc (5122.27</a:t>
            </a:r>
            <a:r>
              <a:rPr lang="pt-BR" sz="16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); r</a:t>
            </a:r>
            <a: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etirar DÓLAR penalizou pouco (+0.44), usar só IPCA (+0.72) ou dropar SELIC (+0.78) piorou moderadamente, enquanto só DÓLAR (+3.17), só SELIC (+4.09) e dropar IPCA (+4.74) foram claramente inferiores— 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sinal de que o IPCA carrega boa parte do ajuste in-sample.</a:t>
            </a:r>
            <a:endParaRPr lang="pt-BR" sz="1400" b="1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F0EA6F05-2BF1-5A0B-ACBA-D4B1D0739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1077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pt-BR" sz="24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Resultados e Discussão | Análise de Sensibilidade e Exclusão de Variáveis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905A5FF-FB79-DE95-FEEE-F0F8A85152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374" y="1862455"/>
            <a:ext cx="5756910" cy="31330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246876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DA606-92D9-AA87-F2D9-BD4A60068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75CB871-74C7-EC1D-456C-DE76262CFBDE}"/>
              </a:ext>
            </a:extLst>
          </p:cNvPr>
          <p:cNvSpPr txBox="1"/>
          <p:nvPr/>
        </p:nvSpPr>
        <p:spPr>
          <a:xfrm>
            <a:off x="0" y="1302406"/>
            <a:ext cx="6472791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Métricas de Desempenho:</a:t>
            </a:r>
          </a:p>
          <a:p>
            <a:endParaRPr lang="pt-BR" b="1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algn="just"/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Para </a:t>
            </a:r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OOS</a:t>
            </a:r>
            <a:r>
              <a:rPr lang="pt-BR" sz="1600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, o modelo ONLY SELIC tem o menor MAE (4387.15) e RMSE (5266.97); </a:t>
            </a:r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superando levemente o PURO (sem exógenas, ARIMA (1,0,1)) (MAE=4422; RMSE=5281); DROP_DÓLAR ficou próximo (RMSE≈5297), ao passo que o FULL piorou (RMSE≈5400). </a:t>
            </a:r>
            <a:endParaRPr lang="pt-BR" sz="1600" b="1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algn="just"/>
            <a:endParaRPr lang="pt-BR" sz="14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  <a:p>
            <a:pPr algn="ctr"/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Conclusão:</a:t>
            </a:r>
          </a:p>
          <a:p>
            <a:pPr algn="just"/>
            <a:br>
              <a:rPr lang="pt-BR" sz="14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</a:br>
            <a:r>
              <a:rPr lang="pt-BR" b="1" dirty="0">
                <a:latin typeface="Poppins" panose="00000500000000000000" pitchFamily="2" charset="0"/>
                <a:cs typeface="Poppins" panose="00000500000000000000" pitchFamily="2" charset="0"/>
              </a:rPr>
              <a:t>Os ganhos são pequenos (&lt;3%) e instáveis</a:t>
            </a:r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, e não alteram a conclusão central de que o ARIMA (3,0,4) univariado permanece o benchmark mais sólido no período analisado. </a:t>
            </a:r>
            <a:r>
              <a:rPr lang="pt-BR" sz="1600" u="sng" dirty="0">
                <a:latin typeface="Poppins" panose="00000500000000000000" pitchFamily="2" charset="0"/>
                <a:cs typeface="Poppins" panose="00000500000000000000" pitchFamily="2" charset="0"/>
              </a:rPr>
              <a:t>Em suma, o experimento de remoção/adição de variáveis sugere que a SELIC pode ajudar marginalmente no curtíssimo prazo nesta janela, enquanto o IPCA explica mais o ajuste in-sample.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0D72CA37-B07A-E3D9-7A7C-318A78DCD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1077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pt-BR" sz="24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Resultados e Discussão | Análise de Sensibilidade e Exclusão de Variáveis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9CB1414-66F2-605E-2119-BF37CD5D67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0833" y="2063177"/>
            <a:ext cx="5756910" cy="31330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26154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3F6E5-1D98-A3B3-C225-750712649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60F8E70-25A5-27C5-F3E5-B79F92A36D27}"/>
              </a:ext>
            </a:extLst>
          </p:cNvPr>
          <p:cNvSpPr txBox="1"/>
          <p:nvPr/>
        </p:nvSpPr>
        <p:spPr>
          <a:xfrm>
            <a:off x="0" y="845206"/>
            <a:ext cx="6300826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Setup do gráfico:</a:t>
            </a:r>
          </a:p>
          <a:p>
            <a:pPr algn="just"/>
            <a:r>
              <a:rPr lang="pt-BR" sz="1400" b="1" dirty="0">
                <a:latin typeface="Poppins" panose="00000500000000000000" pitchFamily="2" charset="0"/>
                <a:cs typeface="Poppins" panose="00000500000000000000" pitchFamily="2" charset="0"/>
              </a:rPr>
              <a:t>ARIMAX (1,0,1) com defasagens (4,3,3). </a:t>
            </a:r>
            <a:r>
              <a:rPr lang="pt-BR" sz="1400" dirty="0">
                <a:latin typeface="Poppins" panose="00000500000000000000" pitchFamily="2" charset="0"/>
                <a:cs typeface="Poppins" panose="00000500000000000000" pitchFamily="2" charset="0"/>
              </a:rPr>
              <a:t>Série prevista em nível a partir de projeções em diferenças acumuladas. Faixa cinza = intervalo de 95%.</a:t>
            </a:r>
          </a:p>
          <a:p>
            <a:pPr algn="just"/>
            <a:endParaRPr lang="pt-BR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/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Leitura:</a:t>
            </a:r>
          </a:p>
          <a:p>
            <a:pPr algn="just"/>
            <a:r>
              <a:rPr lang="pt-BR" sz="1400" b="1" dirty="0">
                <a:latin typeface="Poppins" panose="00000500000000000000" pitchFamily="2" charset="0"/>
                <a:cs typeface="Poppins" panose="00000500000000000000" pitchFamily="2" charset="0"/>
              </a:rPr>
              <a:t>Os dois pontos vermelhos sinalizam queda à frente, porém com incerteza ampla </a:t>
            </a:r>
            <a:r>
              <a:rPr lang="pt-BR" sz="1400" dirty="0">
                <a:latin typeface="Poppins" panose="00000500000000000000" pitchFamily="2" charset="0"/>
                <a:cs typeface="Poppins" panose="00000500000000000000" pitchFamily="2" charset="0"/>
              </a:rPr>
              <a:t>— esperado quando se integra a previsão em Δ para nível. </a:t>
            </a:r>
            <a:r>
              <a:rPr lang="pt-BR" sz="1400" u="sng" dirty="0">
                <a:latin typeface="Poppins" panose="00000500000000000000" pitchFamily="2" charset="0"/>
                <a:cs typeface="Poppins" panose="00000500000000000000" pitchFamily="2" charset="0"/>
              </a:rPr>
              <a:t>O ponto serve como indicação direcional, não um alvo pontual.</a:t>
            </a:r>
          </a:p>
          <a:p>
            <a:pPr algn="just"/>
            <a:endParaRPr lang="pt-BR" sz="1600" u="sng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/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Interpretação:</a:t>
            </a:r>
          </a:p>
          <a:p>
            <a:pPr algn="just"/>
            <a:r>
              <a:rPr lang="pt-BR" sz="1400" dirty="0">
                <a:latin typeface="Poppins" panose="00000500000000000000" pitchFamily="2" charset="0"/>
                <a:cs typeface="Poppins" panose="00000500000000000000" pitchFamily="2" charset="0"/>
              </a:rPr>
              <a:t>O alargamento do intervalo sugere que, no horizonte mensal H=2, a contribuição contemporânea das exógenas (Selic, IPCA, USD/BRL) é frágil para antecipar movimentos de maior amplitude. </a:t>
            </a:r>
          </a:p>
          <a:p>
            <a:pPr algn="just"/>
            <a:endParaRPr lang="pt-BR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/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Conclusão:</a:t>
            </a:r>
          </a:p>
          <a:p>
            <a:pPr algn="just"/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Para decisão, use a direção (tendência de queda) com gestão de risco compatível com a variância crescente em nível. O ARIMA univariado segue como baseline forte; ARIMAX entra como leitura complementar de cenário, não substituto.</a:t>
            </a:r>
          </a:p>
          <a:p>
            <a:pPr algn="just"/>
            <a:endParaRPr lang="pt-BR" sz="1600" u="sng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57690E89-DF87-5B3A-A157-15834F140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1077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pt-BR" sz="24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Resultados e Discussão | Previsão em Nível (H=2)</a:t>
            </a:r>
          </a:p>
        </p:txBody>
      </p:sp>
      <p:pic>
        <p:nvPicPr>
          <p:cNvPr id="1026" name="Picture 2" descr="Gráfico&#10;&#10;Descrição gerada automaticamente">
            <a:extLst>
              <a:ext uri="{FF2B5EF4-FFF2-40B4-BE49-F238E27FC236}">
                <a16:creationId xmlns:a16="http://schemas.microsoft.com/office/drawing/2014/main" id="{23E111E3-478B-440B-D51B-7A10C6E6D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6516" y="2630251"/>
            <a:ext cx="5445063" cy="2700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62748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2FB33-C624-D549-D34F-0F27B26EB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06EB4AE-5EFF-6098-F6E1-9B055FF25B15}"/>
              </a:ext>
            </a:extLst>
          </p:cNvPr>
          <p:cNvSpPr txBox="1"/>
          <p:nvPr/>
        </p:nvSpPr>
        <p:spPr>
          <a:xfrm>
            <a:off x="0" y="845206"/>
            <a:ext cx="6300826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Setup do gráfico:</a:t>
            </a:r>
          </a:p>
          <a:p>
            <a:pPr algn="just"/>
            <a:r>
              <a:rPr lang="pt-BR" sz="1600" u="sng" dirty="0">
                <a:latin typeface="Poppins" panose="00000500000000000000" pitchFamily="2" charset="0"/>
                <a:cs typeface="Poppins" panose="00000500000000000000" pitchFamily="2" charset="0"/>
              </a:rPr>
              <a:t>Comparação fora da amostra (hold-out, rolling 1-step) entre ARIMA (3,0,4) (cinza) e ARIMAX (1,0,1) – (4,3,3) (vermelho) versus ΔIBOV observado (preto).</a:t>
            </a:r>
          </a:p>
          <a:p>
            <a:pPr algn="just"/>
            <a:endParaRPr lang="pt-BR" sz="1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Leitura:</a:t>
            </a:r>
          </a:p>
          <a:p>
            <a:pPr algn="just"/>
            <a:r>
              <a:rPr lang="pt-BR" sz="1400" dirty="0">
                <a:latin typeface="Poppins" panose="00000500000000000000" pitchFamily="2" charset="0"/>
                <a:cs typeface="Poppins" panose="00000500000000000000" pitchFamily="2" charset="0"/>
              </a:rPr>
              <a:t>Ambos suavizam a volatilidade, mas o </a:t>
            </a:r>
            <a:r>
              <a:rPr lang="pt-BR" sz="1600" b="1" dirty="0">
                <a:latin typeface="Poppins" panose="00000500000000000000" pitchFamily="2" charset="0"/>
                <a:cs typeface="Poppins" panose="00000500000000000000" pitchFamily="2" charset="0"/>
              </a:rPr>
              <a:t>ARIMA (cinza) acompanha melhor as viradas e a magnitude dos movimentos. </a:t>
            </a:r>
            <a:r>
              <a:rPr lang="pt-BR" sz="1400" dirty="0">
                <a:latin typeface="Poppins" panose="00000500000000000000" pitchFamily="2" charset="0"/>
                <a:cs typeface="Poppins" panose="00000500000000000000" pitchFamily="2" charset="0"/>
              </a:rPr>
              <a:t>O ARIMAX (vermelho) tende ao under-reaction (encolhe para a média), ficando atrás em picos e vales.</a:t>
            </a:r>
          </a:p>
          <a:p>
            <a:pPr algn="just"/>
            <a:endParaRPr lang="pt-BR" sz="1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Interpretação:</a:t>
            </a:r>
          </a:p>
          <a:p>
            <a:pPr algn="just"/>
            <a:r>
              <a:rPr lang="pt-BR" sz="1400" dirty="0">
                <a:latin typeface="Poppins" panose="00000500000000000000" pitchFamily="2" charset="0"/>
                <a:cs typeface="Poppins" panose="00000500000000000000" pitchFamily="2" charset="0"/>
              </a:rPr>
              <a:t>O padrão visual confirma as métricas e testes anteriores (MAE/RMSE e DM): </a:t>
            </a:r>
            <a:r>
              <a:rPr lang="pt-BR" sz="1600" b="1" dirty="0">
                <a:latin typeface="Poppins" panose="00000500000000000000" pitchFamily="2" charset="0"/>
                <a:cs typeface="Poppins" panose="00000500000000000000" pitchFamily="2" charset="0"/>
              </a:rPr>
              <a:t>no mensal e com o protocolo de validação adotado, as exógenas não agregaram poder preditivo consistente de curto prazo frente ao univariado.</a:t>
            </a:r>
            <a:endParaRPr lang="pt-BR" sz="14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/>
            <a:endParaRPr lang="pt-BR" sz="1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Conexão com a literatura:</a:t>
            </a:r>
          </a:p>
          <a:p>
            <a:pPr algn="just"/>
            <a:r>
              <a:rPr lang="pt-BR" sz="1400" dirty="0">
                <a:latin typeface="Poppins" panose="00000500000000000000" pitchFamily="2" charset="0"/>
                <a:cs typeface="Poppins" panose="00000500000000000000" pitchFamily="2" charset="0"/>
              </a:rPr>
              <a:t>Alinha-se à evidência reportada por Holanda Filho (2024): </a:t>
            </a:r>
            <a:r>
              <a:rPr lang="pt-BR" sz="1600" b="1" dirty="0">
                <a:latin typeface="Poppins" panose="00000500000000000000" pitchFamily="2" charset="0"/>
                <a:cs typeface="Poppins" panose="00000500000000000000" pitchFamily="2" charset="0"/>
              </a:rPr>
              <a:t>variáveis macro mensais têm baixo poder explicativo vs. medidas endógenas do próprio índice</a:t>
            </a:r>
            <a:r>
              <a:rPr lang="pt-BR" sz="1400" dirty="0">
                <a:latin typeface="Poppins" panose="00000500000000000000" pitchFamily="2" charset="0"/>
                <a:cs typeface="Poppins" panose="00000500000000000000" pitchFamily="2" charset="0"/>
              </a:rPr>
              <a:t>; o ARIMA univariado é difícil de superar e ganhos com ARIMAX, quando surgem, são pontuais e não persistentes.</a:t>
            </a:r>
          </a:p>
          <a:p>
            <a:pPr algn="just"/>
            <a:endParaRPr lang="pt-BR" sz="1600" u="sng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C590143F-9998-1D9D-C6B9-99F6DB06D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1077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pt-BR" sz="24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Resultados e Discussão | </a:t>
            </a:r>
            <a:r>
              <a:rPr lang="en-US" sz="24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OOS </a:t>
            </a:r>
            <a:r>
              <a:rPr lang="en-US" sz="24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em</a:t>
            </a:r>
            <a:r>
              <a:rPr lang="en-US" sz="24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ΔIBOV (Rolling 1-step)</a:t>
            </a:r>
            <a:endParaRPr lang="pt-BR" sz="2400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pic>
        <p:nvPicPr>
          <p:cNvPr id="2050" name="Picture 2" descr="Gráfico, Gráfico de linhas&#10;&#10;Descrição gerada automaticamente">
            <a:extLst>
              <a:ext uri="{FF2B5EF4-FFF2-40B4-BE49-F238E27FC236}">
                <a16:creationId xmlns:a16="http://schemas.microsoft.com/office/drawing/2014/main" id="{931AC455-8DB6-0B56-C17B-1AC0897FEA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826" y="1916946"/>
            <a:ext cx="5642130" cy="279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52724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A01EB-762C-BD8F-C7BD-ED41F3585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13A1C40-FDDA-3762-4A58-6CF141512648}"/>
              </a:ext>
            </a:extLst>
          </p:cNvPr>
          <p:cNvSpPr txBox="1"/>
          <p:nvPr/>
        </p:nvSpPr>
        <p:spPr>
          <a:xfrm>
            <a:off x="0" y="1302406"/>
            <a:ext cx="11898351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Resultados:</a:t>
            </a:r>
          </a:p>
          <a:p>
            <a:pPr algn="just"/>
            <a:endParaRPr lang="pt-BR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/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Comparamos o ARIMA (3,0,4) com o ARIMAX usando variáveis macroeconômicas (SELIC, IPCA, USD/BRL) de 2000–2025. </a:t>
            </a:r>
            <a:r>
              <a:rPr lang="pt-BR" b="1" dirty="0">
                <a:latin typeface="Poppins" panose="00000500000000000000" pitchFamily="2" charset="0"/>
                <a:cs typeface="Poppins" panose="00000500000000000000" pitchFamily="2" charset="0"/>
              </a:rPr>
              <a:t>ARIMAX (3,0,4) apresentou leve melhoria sobre o ARIMA, mas com ganhos pequenos e não sustentados fora da amostra.</a:t>
            </a:r>
          </a:p>
          <a:p>
            <a:pPr algn="just"/>
            <a:endParaRPr lang="pt-BR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Futuro do Estudo: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Expansão de Variáveis: Incluir commodities, spreads de crédito, e dados de sentimento (via NLP).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Modelos Avançados: Testar ARIMAX-GARCH e redes neurais para melhorar a previsão.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Alta Frequência: Aplicar em séries diárias ou semanais para explorar padrões de curto prazo.</a:t>
            </a:r>
          </a:p>
          <a:p>
            <a:pPr algn="just"/>
            <a:endParaRPr lang="pt-BR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b="1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Considerações Finais:</a:t>
            </a:r>
          </a:p>
          <a:p>
            <a:pPr algn="just"/>
            <a:r>
              <a:rPr lang="pt-BR" sz="2400" b="1" dirty="0">
                <a:latin typeface="Poppins" panose="00000500000000000000" pitchFamily="2" charset="0"/>
                <a:cs typeface="Poppins" panose="00000500000000000000" pitchFamily="2" charset="0"/>
              </a:rPr>
              <a:t>O ARIMA foi mais robusto, mas o ARIMAX pode ser útil em contextos de curto prazo.</a:t>
            </a:r>
          </a:p>
          <a:p>
            <a:pPr algn="just"/>
            <a:r>
              <a:rPr lang="pt-BR" b="1" dirty="0">
                <a:latin typeface="Poppins" panose="00000500000000000000" pitchFamily="2" charset="0"/>
                <a:cs typeface="Poppins" panose="00000500000000000000" pitchFamily="2" charset="0"/>
              </a:rPr>
              <a:t>Sugerem-se mais preditores e técnicas de aprendizado de máquina para futuras melhorias.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94DBC8E0-43D8-9C02-090D-7CC434B5B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1077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hangingPunct="1"/>
            <a:r>
              <a:rPr lang="pt-BR" sz="24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Conclusão</a:t>
            </a:r>
          </a:p>
        </p:txBody>
      </p:sp>
    </p:spTree>
    <p:extLst>
      <p:ext uri="{BB962C8B-B14F-4D97-AF65-F5344CB8AC3E}">
        <p14:creationId xmlns:p14="http://schemas.microsoft.com/office/powerpoint/2010/main" val="29383543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65B425-D765-3907-1399-E33F96DD8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ítulo 1">
            <a:extLst>
              <a:ext uri="{FF2B5EF4-FFF2-40B4-BE49-F238E27FC236}">
                <a16:creationId xmlns:a16="http://schemas.microsoft.com/office/drawing/2014/main" id="{F7124C1F-8D43-9F16-6D05-CBA3953CDC4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68537" y="2427287"/>
            <a:ext cx="7654925" cy="2003425"/>
          </a:xfrm>
        </p:spPr>
        <p:txBody>
          <a:bodyPr/>
          <a:lstStyle/>
          <a:p>
            <a:r>
              <a:rPr lang="pt-BR" altLang="pt-BR" sz="13800" dirty="0">
                <a:solidFill>
                  <a:schemeClr val="bg2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FIM.</a:t>
            </a:r>
          </a:p>
        </p:txBody>
      </p:sp>
    </p:spTree>
    <p:extLst>
      <p:ext uri="{BB962C8B-B14F-4D97-AF65-F5344CB8AC3E}">
        <p14:creationId xmlns:p14="http://schemas.microsoft.com/office/powerpoint/2010/main" val="22436988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8CFA7B293EDBE4DB98FBC161D82B39F" ma:contentTypeVersion="15" ma:contentTypeDescription="Crie um novo documento." ma:contentTypeScope="" ma:versionID="ed78836dbbd60ef5b47f46abba0ddc66">
  <xsd:schema xmlns:xsd="http://www.w3.org/2001/XMLSchema" xmlns:xs="http://www.w3.org/2001/XMLSchema" xmlns:p="http://schemas.microsoft.com/office/2006/metadata/properties" xmlns:ns2="2c89dc19-a755-4b1f-8ccb-ddc282e02978" xmlns:ns3="1e7d8aaf-77fb-4419-819f-502bcc31ffe3" targetNamespace="http://schemas.microsoft.com/office/2006/metadata/properties" ma:root="true" ma:fieldsID="f28b1225859e7fd7734d1009df438026" ns2:_="" ns3:_="">
    <xsd:import namespace="2c89dc19-a755-4b1f-8ccb-ddc282e02978"/>
    <xsd:import namespace="1e7d8aaf-77fb-4419-819f-502bcc31ffe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89dc19-a755-4b1f-8ccb-ddc282e0297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1b121cd5-3768-42a0-b312-b7830db9b9b1}" ma:internalName="TaxCatchAll" ma:showField="CatchAllData" ma:web="2c89dc19-a755-4b1f-8ccb-ddc282e0297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7d8aaf-77fb-4419-819f-502bcc31ff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cf329bc3-ce7e-4e75-9c56-962f8f350e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e7d8aaf-77fb-4419-819f-502bcc31ffe3">
      <Terms xmlns="http://schemas.microsoft.com/office/infopath/2007/PartnerControls"/>
    </lcf76f155ced4ddcb4097134ff3c332f>
    <TaxCatchAll xmlns="2c89dc19-a755-4b1f-8ccb-ddc282e02978" xsi:nil="true"/>
  </documentManagement>
</p:properties>
</file>

<file path=customXml/itemProps1.xml><?xml version="1.0" encoding="utf-8"?>
<ds:datastoreItem xmlns:ds="http://schemas.openxmlformats.org/officeDocument/2006/customXml" ds:itemID="{35E43D43-768B-4037-BB07-231DDA2772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89dc19-a755-4b1f-8ccb-ddc282e02978"/>
    <ds:schemaRef ds:uri="1e7d8aaf-77fb-4419-819f-502bcc31ff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55DBCE5-0FAE-4B8C-8A8A-6EE5B61A622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1A62DB6-902C-42C2-8D0F-84FB049FEE65}">
  <ds:schemaRefs>
    <ds:schemaRef ds:uri="http://schemas.microsoft.com/office/2006/metadata/properties"/>
    <ds:schemaRef ds:uri="http://schemas.microsoft.com/office/infopath/2007/PartnerControls"/>
    <ds:schemaRef ds:uri="1e7d8aaf-77fb-4419-819f-502bcc31ffe3"/>
    <ds:schemaRef ds:uri="2c89dc19-a755-4b1f-8ccb-ddc282e0297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1949</TotalTime>
  <Words>3891</Words>
  <Application>Microsoft Office PowerPoint</Application>
  <PresentationFormat>Widescreen</PresentationFormat>
  <Paragraphs>271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24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Calibri Light</vt:lpstr>
      <vt:lpstr>Poppins</vt:lpstr>
      <vt:lpstr>Poppins SemiBold</vt:lpstr>
      <vt:lpstr>Roboto</vt:lpstr>
      <vt:lpstr>Tema do Office</vt:lpstr>
      <vt:lpstr>Personalizar design</vt:lpstr>
      <vt:lpstr>Modelagem e previsão do IBOVESPA com variáveis macroeconômicas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FIM.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do Trabalho de Conclusão de Curso</dc:title>
  <dc:creator>Nicole Dinardi</dc:creator>
  <cp:lastModifiedBy>João Paulo Fumes Beneton</cp:lastModifiedBy>
  <cp:revision>26</cp:revision>
  <dcterms:created xsi:type="dcterms:W3CDTF">2023-09-28T12:56:17Z</dcterms:created>
  <dcterms:modified xsi:type="dcterms:W3CDTF">2025-10-28T01:59:02Z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0x01010008CFA7B293EDBE4DB98FBC161D82B39F</vt:lpwstr>
  </property>
</Properties>
</file>